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caeadf714049e1" /><Relationship Type="http://schemas.openxmlformats.org/officeDocument/2006/relationships/extended-properties" Target="/docProps/app.xml" Id="Rbc74096db1934546" /><Relationship Type="http://schemas.openxmlformats.org/officeDocument/2006/relationships/officeDocument" Target="/ppt/presentation.xml" Id="Rfd15682d3d0d4c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2753db2a2a46c6"/>
  </p:sldMasterIdLst>
  <p:notesMasterIdLst>
    <p:notesMasterId xmlns:r="http://schemas.openxmlformats.org/officeDocument/2006/relationships" r:id="R85d8d02a150c4324"/>
  </p:notesMasterIdLst>
  <p:sldIdLst>
    <p:sldId xmlns:r="http://schemas.openxmlformats.org/officeDocument/2006/relationships" id="256" r:id="Rf2011f01855440c5"/>
    <p:sldId xmlns:r="http://schemas.openxmlformats.org/officeDocument/2006/relationships" id="257" r:id="R92e4ecb1d2da4eb7"/>
    <p:sldId xmlns:r="http://schemas.openxmlformats.org/officeDocument/2006/relationships" id="258" r:id="R21ab8b79ae1840c7"/>
    <p:sldId xmlns:r="http://schemas.openxmlformats.org/officeDocument/2006/relationships" id="259" r:id="R557b049d1b60400b"/>
    <p:sldId xmlns:r="http://schemas.openxmlformats.org/officeDocument/2006/relationships" id="260" r:id="Ra5db6e99d04a42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7ead447e9042f4" /><Relationship Type="http://schemas.openxmlformats.org/officeDocument/2006/relationships/slideMaster" Target="/ppt/slideMasters/slideMaster1.xml" Id="R742753db2a2a46c6" /><Relationship Type="http://schemas.openxmlformats.org/officeDocument/2006/relationships/notesMaster" Target="/ppt/notesMasters/notesMaster1.xml" Id="R85d8d02a150c4324" /><Relationship Type="http://schemas.openxmlformats.org/officeDocument/2006/relationships/presProps" Target="/ppt/presProps.xml" Id="Re064e220c34540a8" /><Relationship Type="http://schemas.openxmlformats.org/officeDocument/2006/relationships/tableStyles" Target="/ppt/tableStyles.xml" Id="Rf4cdce50bbfc474a" /><Relationship Type="http://schemas.openxmlformats.org/officeDocument/2006/relationships/slide" Target="/ppt/slides/slide1.xml" Id="Rf2011f01855440c5" /><Relationship Type="http://schemas.openxmlformats.org/officeDocument/2006/relationships/slide" Target="/ppt/slides/slide2.xml" Id="R92e4ecb1d2da4eb7" /><Relationship Type="http://schemas.openxmlformats.org/officeDocument/2006/relationships/slide" Target="/ppt/slides/slide3.xml" Id="R21ab8b79ae1840c7" /><Relationship Type="http://schemas.openxmlformats.org/officeDocument/2006/relationships/slide" Target="/ppt/slides/slide4.xml" Id="R557b049d1b60400b" /><Relationship Type="http://schemas.openxmlformats.org/officeDocument/2006/relationships/slide" Target="/ppt/slides/slide5.xml" Id="Ra5db6e99d04a42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316b0b03be4c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e7ab7dc2e9404f" /><Relationship Type="http://schemas.openxmlformats.org/officeDocument/2006/relationships/notesMaster" Target="/ppt/notesMasters/notesMaster1.xml" Id="R30aba9f1b40c46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84763a24ad426b" /><Relationship Type="http://schemas.openxmlformats.org/officeDocument/2006/relationships/notesMaster" Target="/ppt/notesMasters/notesMaster1.xml" Id="R567550df47b04e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02aaeaf14146f8" /><Relationship Type="http://schemas.openxmlformats.org/officeDocument/2006/relationships/notesMaster" Target="/ppt/notesMasters/notesMaster1.xml" Id="Rd63eaaba82ac4b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2bfe35f93e46c6" /><Relationship Type="http://schemas.openxmlformats.org/officeDocument/2006/relationships/notesMaster" Target="/ppt/notesMasters/notesMaster1.xml" Id="Rf335136414184f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46299c33c3424f" /><Relationship Type="http://schemas.openxmlformats.org/officeDocument/2006/relationships/notesMaster" Target="/ppt/notesMasters/notesMaster1.xml" Id="R877a69423c3e49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这不是华为内部系统的复刻，而是我基于公开风格模拟数据完成的个人方法论复现。项目目标是验证多工具 Agent 在软件资产查询、依赖分析、版本比较和研发文档检索中的完整闭环。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README: README.md</a:t>
            </a:r>
          </a:p>
          <a:p xmlns:a="http://schemas.openxmlformats.org/drawingml/2006/main">
            <a:r>
              <a:t>- Local compliance audit: docs/public-release-audit.md</a:t>
            </a:r>
          </a:p>
          <a:p xmlns:a="http://schemas.openxmlformats.org/drawingml/2006/main">
            <a:r>
              <a:t>- Current CI evidence: https://github.com/Isoldelu/software-engineering-agent/actions/runs/33311037079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核心区别是先规划、再调用工具、再收集 Evidence，最后由确定性 Verifier 判断是否满足任务。Trace 同时进入评测和受控优化环路，候选策略只能经过 Shadow、全量回归和人工审核后发布，并支持灰度与回滚。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docs/architecture-v2.md</a:t>
            </a:r>
          </a:p>
          <a:p xmlns:a="http://schemas.openxmlformats.org/drawingml/2006/main">
            <a:r>
              <a:t>- Evidence and citation contract: docs/evidence-citation.md</a:t>
            </a:r>
          </a:p>
          <a:p xmlns:a="http://schemas.openxmlformats.org/drawingml/2006/main">
            <a:r>
              <a:t>- Controlled evolution: docs/offline-controlled-evolution.md</a:t>
            </a:r>
          </a:p>
          <a:p xmlns:a="http://schemas.openxmlformats.org/drawingml/2006/main">
            <a:r>
              <a:t>- Policy rollout: docs/policy-rollout.md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现场只演示一个复合 Query。Planner 没有靠单个关键词直接结束，而是组合 Package、Dependency、Version 三个工具。每个工具输出都被标准化成 Evidence 和 Citation，Verifier 通过，Trace 完整可回放。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browser screenshot: docs/assets/agent-demo.png</a:t>
            </a:r>
          </a:p>
          <a:p xmlns:a="http://schemas.openxmlformats.org/drawingml/2006/main">
            <a:r>
              <a:t>- Executable demo: examples/interview_demo.py</a:t>
            </a:r>
          </a:p>
          <a:p xmlns:a="http://schemas.openxmlformats.org/drawingml/2006/main">
            <a:r>
              <a:t>- Demo runbook: docs/demo-runbook.md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评测分为任务成功率、工具路由准确率、答案正确性和调用效率。早期关键词 Router 在挑战集上只有 61.76%，加入别名、工具描述、Planner 和 Bad-case 回归后达到冻结集 100%。这里的 DirectLLMProxy 与 RAGOnlyProxy 是离线可复现基线，不冒充真实商业模型。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evaluation dashboard screenshot: docs/assets/evaluation-dashboard.png</a:t>
            </a:r>
          </a:p>
          <a:p xmlns:a="http://schemas.openxmlformats.org/drawingml/2006/main">
            <a:r>
              <a:t>- Experiment results: docs/experiment_results.md</a:t>
            </a:r>
          </a:p>
          <a:p xmlns:a="http://schemas.openxmlformats.org/drawingml/2006/main">
            <a:r>
              <a:t>- Current project summary: docs/project_summary.md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最后用工程证据和诚实边界收口。当前 CI 已覆盖测试、Docker 和真实 PostgreSQL 多 Worker 路径；受控自进化不会自动修改源码或直接上线。还没有做的是付费真实 Provider A/B，这应作为预算明确后的独立实验，而不是阻塞现有项目交付。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Actions Run: https://github.com/Isoldelu/software-engineering-agent/actions/runs/33311037079</a:t>
            </a:r>
          </a:p>
          <a:p xmlns:a="http://schemas.openxmlformats.org/drawingml/2006/main">
            <a:r>
              <a:t>- Operational evidence: docs/step28-observability-disaster-recovery.md</a:t>
            </a:r>
          </a:p>
          <a:p xmlns:a="http://schemas.openxmlformats.org/drawingml/2006/main">
            <a:r>
              <a:t>- Public repository: https://github.com/Isoldelu/software-engineering-agent</a:t>
            </a:r>
          </a:p>
          <a:p xmlns:a="http://schemas.openxmlformats.org/drawingml/2006/main">
            <a:r>
              <a:t>- Project boundaries: docs/project-showcase.md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8d19b1e3a4f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fb511a031c469f" /><Relationship Type="http://schemas.openxmlformats.org/officeDocument/2006/relationships/slideLayout" Target="/ppt/slideLayouts/slideLayout1.xml" Id="R7bf8e9fce0f943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f8e9fce0f943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424e5171a4867" /><Relationship Type="http://schemas.openxmlformats.org/officeDocument/2006/relationships/notesSlide" Target="/ppt/notesSlides/notesSlide1.xml" Id="Ref227df4d5fe40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26af59287431c" /><Relationship Type="http://schemas.openxmlformats.org/officeDocument/2006/relationships/notesSlide" Target="/ppt/notesSlides/notesSlide2.xml" Id="R8fd39521e0454c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4d7724b424060" /><Relationship Type="http://schemas.openxmlformats.org/officeDocument/2006/relationships/image" Target="/ppt/media/image.png" Id="R6f31c9fe5353491b" /><Relationship Type="http://schemas.openxmlformats.org/officeDocument/2006/relationships/notesSlide" Target="/ppt/notesSlides/notesSlide3.xml" Id="R0154567a29874c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87c20629a461f" /><Relationship Type="http://schemas.openxmlformats.org/officeDocument/2006/relationships/image" Target="/ppt/media/image2.png" Id="R0958f2c0e6cb4431" /><Relationship Type="http://schemas.openxmlformats.org/officeDocument/2006/relationships/notesSlide" Target="/ppt/notesSlides/notesSlide4.xml" Id="Rf573c1da8bde4a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dec96f2264f58" /><Relationship Type="http://schemas.openxmlformats.org/officeDocument/2006/relationships/notesSlide" Target="/ppt/notesSlides/notesSlide5.xml" Id="R12d0c79f050f4d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7D8289-20A0-41F5-A9EC-75836B86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319BC-45CA-42A8-91DA-2C67A818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AI4SE · INTERVIEW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9C4FA-2E8B-4553-9D47-D047D2E3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524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Software</a:t>
            </a:r>
          </a:p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Engineering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674EDD-C01B-4DF5-9434-46A9A5A2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面向软件研发场景的多工具检索、分析与受控优化系统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5F3C0-6BEB-4BB4-8041-7BB03A54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85800"/>
            <a:ext cx="306705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567EE5-A39C-418A-980A-41E0135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23950"/>
            <a:ext cx="2362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3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95B3D-84BC-45E6-908D-CE239549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19300"/>
            <a:ext cx="2286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Tools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3E023-CBAA-489C-9B38-2E4DB916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733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8BAA1-6EC0-4DF4-8BD9-6B598937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134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3CE5A-6088-4940-B6F7-53385DE1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080D8-6639-4EB3-85C2-27EC5746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193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3ED9D-0DCF-4AE0-A177-73BCC836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53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frozen cases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BBAF4-97D6-4571-9E97-A35164EA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B1915-7858-40CB-A90D-CFF3A876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75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paid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9633B-71CE-4B6F-86CA-AA2F449F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公开模拟数据 · 个人方法论复现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FD04FA-1E65-402A-B7B2-CB242B93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3813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55F2C6-53C1-4F54-9388-182F442A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它不是普通 RAG，而是一条可验证的 Agent 执行链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1CD29-D056-4D84-819E-4B829D99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CC13C-8E15-41BB-A802-6EDED903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7F5A6-1E8C-4593-954D-9E14616C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9FE5F-28B8-41E0-AC17-2D0EB816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A70EE-6128-4BE9-9C24-925D14B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69DDD-6392-453D-9C93-8A85D6B7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8CBBF-6C6D-40F5-AFF7-CE3B4A59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D559E1-69F8-44D2-B0F7-C246F778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Query +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456E4-B7AC-4C7E-A6C1-93CC959D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多轮实体解析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BE6A0-22CA-4F2B-A4C1-A5D23665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19050">
            <a:solidFill>
              <a:srgbClr val="0B7A7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8A59CC-47A9-4E9A-BB09-202719F8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0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Planner + 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E3951-2F59-4BB7-931E-B8C13AD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单工具 / Hybrid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BCDFD-0035-4948-909E-72841305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B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E51BF-548C-46EE-9F56-F24D0AE2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Execution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AAC72-287F-4610-A599-6E3E8EEC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5 个领域工具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501F02-7EA2-4F27-8CDC-6258A08A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E48D92-9A14-403F-8AC8-321AC0FC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0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Evidence + Verifier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670322-EAAE-446C-9A33-E93164FE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引用与部分成功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DB79D5-FB2C-42DB-98A5-58B33470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95FD26-BCBD-4DD3-B915-D55DADE4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Answer + Trace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15627-A012-44C4-A10C-AF9DECF7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可回放执行轨迹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6BAA16-3CB9-4002-8C6E-B97204E6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知识与工具层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CAE2E6-A523-4B86-99AF-6C3F198C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505200"/>
            <a:ext cx="939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C9C7C3-94E5-49F5-90BC-81727483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908F0E-07AB-4C19-B0E8-7864A53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Structured Assets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B8553-B405-46E9-AEE0-64C900A5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Package · Dependency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Version · Component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EEE20F-FB4D-42E6-B820-ABC4651F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3D4"/>
          </a:solidFill>
          <a:ln xmlns:a="http://schemas.openxmlformats.org/drawingml/2006/main" w="0">
            <a:solidFill>
              <a:srgbClr val="3973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B2C1D4-A512-4272-968B-47D6BACD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RAG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83A81A-E4D7-4892-9FF6-EA4CFEE5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Legacy + BM25 + RRF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Reranker + No-answer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5349B3-3D13-43EE-B58E-8DACC5FF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8422"/>
          </a:solidFill>
          <a:ln xmlns:a="http://schemas.openxmlformats.org/drawingml/2006/main" w="0">
            <a:solidFill>
              <a:srgbClr val="C8842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2F2CCA-2D70-4647-9391-1EAA4A48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Control Plane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CBCCCB-D43F-4D4C-9043-BD9BE3DE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Policy · Feedback · Audit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· 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9BE812-DEFA-4D95-BDC7-EAEA42F2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Trace → Evaluation → Bad-case Mining → Shadow Candidate → Human Review → Rollout / Rollback</a:t>
            </a:r>
          </a:p>
        </p:txBody>
      </p:sp>
    </p:spTree>
    <p:extLst>
      <p:ext uri="{BB962C8B-B14F-4D97-AF65-F5344CB8AC3E}">
        <p14:creationId xmlns:p14="http://schemas.microsoft.com/office/powerpoint/2010/main" val="1290007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07A5C5-71AE-46D5-BAF9-C24FC660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一个复合问题触发 3 个工具，并返回可追溯事实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B4190-93AF-4ABC-8A19-D7418449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F5428-53DA-4AFF-99F8-52335C38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01406-B6F9-4C32-B49F-EF660FAA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“查一下 nginx 的版本变化和依赖”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246F9-B3F0-436C-A32D-3FEE3A72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1c9fe5353491b"/>
          <a:stretch xmlns:a="http://schemas.openxmlformats.org/drawingml/2006/main"/>
        </p:blipFill>
        <p:spPr>
          <a:xfrm xmlns:a="http://schemas.openxmlformats.org/drawingml/2006/main">
            <a:off x="1039368" y="1771650"/>
            <a:ext cx="6227064" cy="4324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9F796-49E3-44DF-B98C-C178B2C3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14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3CDAD-05A0-4BE4-AC13-DBE6593E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Package Search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Dependency Analysis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Version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E7E39-C4D6-4820-937A-75A9A32F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8471C-3554-418E-8E91-76E88A85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177FE-FA5C-45C5-A8FA-C6348293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57588-86FA-4AA9-A44D-42E0ABC0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38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47A710-B5F7-4F33-80A5-33C3A355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Citations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8125AD-5642-4A2D-ABCF-531F6288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43500"/>
            <a:ext cx="116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92A09E-221F-4C6A-9BFA-9CDE0F1D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19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Verifier + Trace</a:t>
            </a:r>
          </a:p>
        </p:txBody>
      </p:sp>
    </p:spTree>
    <p:extLst>
      <p:ext uri="{BB962C8B-B14F-4D97-AF65-F5344CB8AC3E}">
        <p14:creationId xmlns:p14="http://schemas.microsoft.com/office/powerpoint/2010/main" val="20170241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29E6F-29A8-41D1-B7DF-7FE0295D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评测让优化可量化，也暴露了离线结果的边界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DCC55-F757-4BB5-87AA-4F8BDBAD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2ABA1-6EE4-46DC-B6AB-0314BF3E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235CE-E3F6-4317-B45C-CE9CA2DB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rPr>
              <a:t>22.94%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50B8B-A7E7-4359-AB1C-B6EEF85D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DirectLLMProxy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AC412-A10F-4401-AD80-D559D25C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57.06%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67595-541E-4482-847E-431DE52B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RAGOnlyProxy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78AA4-8E74-4529-B3FF-EF65BA42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A3C88-DA87-474B-902F-8A63ADB9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16C4C-9F40-4D7E-BAD0-20F7E035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67151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58f2c0e6cb4431"/>
          <a:stretch xmlns:a="http://schemas.openxmlformats.org/drawingml/2006/main"/>
        </p:blipFill>
        <p:spPr>
          <a:xfrm xmlns:a="http://schemas.openxmlformats.org/drawingml/2006/main">
            <a:off x="1463231" y="2667000"/>
            <a:ext cx="4855464" cy="33718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19BC2-8055-430A-9CF0-EDB0F69C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Router 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C9BCA-67F1-404A-A0DD-37102583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050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61.76%  → 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0FA1FD-6E3F-48E1-A2D5-E4518BAF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alias mapping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description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planner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bad-case regression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BB5944-D70F-44C0-B324-612AAFE9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386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B0BC70-610C-49EB-B3B7-BB7A9EC1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244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193 / 193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309D3-71E6-48F9-9807-200AF3E7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冻结评测通过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A22F8-8DFC-44FB-9180-37B77D3F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772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7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离线 Proxy 与模拟数据，不等同于真实模型 A/B</a:t>
            </a:r>
          </a:p>
        </p:txBody>
      </p:sp>
    </p:spTree>
    <p:extLst>
      <p:ext uri="{BB962C8B-B14F-4D97-AF65-F5344CB8AC3E}">
        <p14:creationId xmlns:p14="http://schemas.microsoft.com/office/powerpoint/2010/main" val="13575927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18EFF2-36B0-452B-ACFB-2FAE0031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0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完整工程闭环已验证，真实 Provider A/B 是下一项独立实验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7E915-0052-45C5-A330-AC50397E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980EA-3452-42D7-B017-670097EF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C8D15C-E8BB-4646-AE50-9C59E73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工程证据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BC08D-D597-4824-868B-657A7E75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CB8A4-2F27-42CE-B58B-19E9995C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F440E-C4AA-4678-8BEC-B023F182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100/100 + 40/40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BBF13-CD9C-4253-81D7-94F74F5A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load / recovery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DEF51-3C3C-4194-A18A-D39D4372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6/6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284BC-97C8-428F-8AB8-CAAD10FF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38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fault gates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BADB9-1B80-4AAF-BF1C-77A7389B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1D144-2133-44EF-8611-EE47E707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受控边界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500776-8F71-473D-BE72-C62DC1E4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76450"/>
            <a:ext cx="30289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公开风格模拟数据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不复制企业内部资产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候选策略默认 inactive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Shadow + 全量回归 + 人审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灰度发布与自动回滚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CD96D6-C278-47F3-AB16-D5132FE1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62500"/>
            <a:ext cx="2895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0">
            <a:solidFill>
              <a:srgbClr val="F9ED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4E7D5-8492-467F-9AAA-2C3208AD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真实 Provider A/B</a:t>
            </a:r>
          </a:p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尚未执行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4F18B-3375-4038-9B6E-61A62DFC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16AD24-4D57-4800-876D-1A843CD5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0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可直接验收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475058-777E-4DDE-B7B6-0E5A20F2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GitHub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43DF9C-AB51-4726-BD2D-080CA0DD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· Docker · 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B334E-8598-495A-932E-E5619856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Run 33311037079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84E119-97C1-4A67-9770-D86C4427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9908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github.com/Isoldelu/</a:t>
            </a:r>
          </a:p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software-engineering-agent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54F01-7274-4386-A2C1-D5FECDA4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482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下一步：小预算 Provider A/B</a:t>
            </a:r>
          </a:p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固定 12 条代表性 Query，显式记录成本与失败回退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9A9B4-BE73-4388-B4F9-ACEB25DE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结论：这是一个有工具、有证据、有评测、可部署、可回滚的 AI4SE Agent。</a:t>
            </a:r>
          </a:p>
        </p:txBody>
      </p:sp>
    </p:spTree>
    <p:extLst>
      <p:ext uri="{BB962C8B-B14F-4D97-AF65-F5344CB8AC3E}">
        <p14:creationId xmlns:p14="http://schemas.microsoft.com/office/powerpoint/2010/main" val="13690032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2026-08-30T12:20:27.9490000Z</dcterms:created>
  <dcterms:modified xsi:type="dcterms:W3CDTF">2026-08-30T12:20:27.9490000Z</dcterms:modified>
</coreProperties>
</file>