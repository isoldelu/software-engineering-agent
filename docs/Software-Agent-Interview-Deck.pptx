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7285044f9e4828" /><Relationship Type="http://schemas.openxmlformats.org/officeDocument/2006/relationships/extended-properties" Target="/docProps/app.xml" Id="Rea9b5a93236647d1" /><Relationship Type="http://schemas.openxmlformats.org/officeDocument/2006/relationships/officeDocument" Target="/ppt/presentation.xml" Id="R51e2a01ab5d241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be438d55d74526"/>
  </p:sldMasterIdLst>
  <p:notesMasterIdLst>
    <p:notesMasterId xmlns:r="http://schemas.openxmlformats.org/officeDocument/2006/relationships" r:id="R1ccee42a9e764df1"/>
  </p:notesMasterIdLst>
  <p:sldIdLst>
    <p:sldId xmlns:r="http://schemas.openxmlformats.org/officeDocument/2006/relationships" id="256" r:id="Rfd78fe4d71ea4d7a"/>
    <p:sldId xmlns:r="http://schemas.openxmlformats.org/officeDocument/2006/relationships" id="257" r:id="Raddcad3f9cf24d57"/>
    <p:sldId xmlns:r="http://schemas.openxmlformats.org/officeDocument/2006/relationships" id="258" r:id="R648850dbd8774dfd"/>
    <p:sldId xmlns:r="http://schemas.openxmlformats.org/officeDocument/2006/relationships" id="259" r:id="Rbf5e32568be8413d"/>
    <p:sldId xmlns:r="http://schemas.openxmlformats.org/officeDocument/2006/relationships" id="260" r:id="R81c0cf2adf2b4f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426a8c2dc44df3" /><Relationship Type="http://schemas.openxmlformats.org/officeDocument/2006/relationships/slideMaster" Target="/ppt/slideMasters/slideMaster1.xml" Id="R39be438d55d74526" /><Relationship Type="http://schemas.openxmlformats.org/officeDocument/2006/relationships/notesMaster" Target="/ppt/notesMasters/notesMaster1.xml" Id="R1ccee42a9e764df1" /><Relationship Type="http://schemas.openxmlformats.org/officeDocument/2006/relationships/presProps" Target="/ppt/presProps.xml" Id="Rdc1ea56f714c467d" /><Relationship Type="http://schemas.openxmlformats.org/officeDocument/2006/relationships/tableStyles" Target="/ppt/tableStyles.xml" Id="Rfd6a21cd645d4f8b" /><Relationship Type="http://schemas.openxmlformats.org/officeDocument/2006/relationships/slide" Target="/ppt/slides/slide1.xml" Id="Rfd78fe4d71ea4d7a" /><Relationship Type="http://schemas.openxmlformats.org/officeDocument/2006/relationships/slide" Target="/ppt/slides/slide2.xml" Id="Raddcad3f9cf24d57" /><Relationship Type="http://schemas.openxmlformats.org/officeDocument/2006/relationships/slide" Target="/ppt/slides/slide3.xml" Id="R648850dbd8774dfd" /><Relationship Type="http://schemas.openxmlformats.org/officeDocument/2006/relationships/slide" Target="/ppt/slides/slide4.xml" Id="Rbf5e32568be8413d" /><Relationship Type="http://schemas.openxmlformats.org/officeDocument/2006/relationships/slide" Target="/ppt/slides/slide5.xml" Id="R81c0cf2adf2b4f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b5ecd89db74b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28c58ecf1b461d" /><Relationship Type="http://schemas.openxmlformats.org/officeDocument/2006/relationships/notesMaster" Target="/ppt/notesMasters/notesMaster1.xml" Id="R8aad76b17a244b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45485f26e74b58" /><Relationship Type="http://schemas.openxmlformats.org/officeDocument/2006/relationships/notesMaster" Target="/ppt/notesMasters/notesMaster1.xml" Id="R38af8be67f794b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e35d4a306c4f55" /><Relationship Type="http://schemas.openxmlformats.org/officeDocument/2006/relationships/notesMaster" Target="/ppt/notesMasters/notesMaster1.xml" Id="Re96d48fd881044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3ab912913c4ab0" /><Relationship Type="http://schemas.openxmlformats.org/officeDocument/2006/relationships/notesMaster" Target="/ppt/notesMasters/notesMaster1.xml" Id="R2e49cf3a8f1949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5650d4ed37438f" /><Relationship Type="http://schemas.openxmlformats.org/officeDocument/2006/relationships/notesMaster" Target="/ppt/notesMasters/notesMaster1.xml" Id="R876819b1db0e44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这不是华为内部系统的复刻，而是我基于公开风格模拟数据完成的个人方法论复现。项目目标是验证多工具 Agent 在软件资产查询、依赖分析、版本比较和研发文档检索中的完整闭环。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README: README.md</a:t>
            </a:r>
          </a:p>
          <a:p xmlns:a="http://schemas.openxmlformats.org/drawingml/2006/main">
            <a:r>
              <a:t>- Local compliance audit: docs/public-release-audit.md</a:t>
            </a:r>
          </a:p>
          <a:p xmlns:a="http://schemas.openxmlformats.org/drawingml/2006/main">
            <a:r>
              <a:t>- Current CI evidence: https://github.com/Isoldelu/software-engineering-agent/actions/runs/33363220127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核心区别是先规划、再调用工具、再收集 Evidence，最后由确定性 Verifier 判断是否满足任务。Trace 同时进入评测和受控优化环路，候选策略只能经过 Shadow、全量回归和人工审核后发布，并支持灰度与回滚。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architecture: docs/architecture-v2.md</a:t>
            </a:r>
          </a:p>
          <a:p xmlns:a="http://schemas.openxmlformats.org/drawingml/2006/main">
            <a:r>
              <a:t>- Evidence and citation contract: docs/evidence-citation.md</a:t>
            </a:r>
          </a:p>
          <a:p xmlns:a="http://schemas.openxmlformats.org/drawingml/2006/main">
            <a:r>
              <a:t>- Controlled evolution: docs/offline-controlled-evolution.md</a:t>
            </a:r>
          </a:p>
          <a:p xmlns:a="http://schemas.openxmlformats.org/drawingml/2006/main">
            <a:r>
              <a:t>- Policy rollout: docs/policy-rollout.md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现场只演示一个复合 Query。Planner 没有靠单个关键词直接结束，而是组合 Package、Dependency、Version 三个工具。每个工具输出都被标准化成 Evidence 和 Citation，Verifier 通过，Trace 完整可回放。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browser screenshot: docs/assets/agent-demo.png</a:t>
            </a:r>
          </a:p>
          <a:p xmlns:a="http://schemas.openxmlformats.org/drawingml/2006/main">
            <a:r>
              <a:t>- Executable demo: examples/interview_demo.py</a:t>
            </a:r>
          </a:p>
          <a:p xmlns:a="http://schemas.openxmlformats.org/drawingml/2006/main">
            <a:r>
              <a:t>- Demo runbook: docs/demo-runbook.md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评测分为任务成功率、工具路由准确率、答案正确性和调用效率。早期关键词 Router 在挑战集上只有 61.76%，加入别名、工具描述、Planner 和 Bad-case 回归后达到冻结集 100%。这里的 DirectLLMProxy 与 RAGOnlyProxy 是离线可复现基线，不冒充真实商业模型。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evaluation dashboard screenshot: docs/assets/evaluation-dashboard.png</a:t>
            </a:r>
          </a:p>
          <a:p xmlns:a="http://schemas.openxmlformats.org/drawingml/2006/main">
            <a:r>
              <a:t>- Experiment results: docs/experiment_results.md</a:t>
            </a:r>
          </a:p>
          <a:p xmlns:a="http://schemas.openxmlformats.org/drawingml/2006/main">
            <a:r>
              <a:t>- Current project summary: docs/project_summary.md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最后用工程证据和诚实边界收口。当前 CI 已覆盖测试、Docker 和真实 PostgreSQL 多 Worker 路径；受控自进化不会自动修改源码或直接上线。还没有做的是付费真实 Provider A/B，这应作为预算明确后的独立实验，而不是阻塞现有项目交付。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Actions Run: https://github.com/Isoldelu/software-engineering-agent/actions/runs/33363220127</a:t>
            </a:r>
          </a:p>
          <a:p xmlns:a="http://schemas.openxmlformats.org/drawingml/2006/main">
            <a:r>
              <a:t>- Step 34 evidence: evaluation/step34_bridge_fault_report.md</a:t>
            </a:r>
          </a:p>
          <a:p xmlns:a="http://schemas.openxmlformats.org/drawingml/2006/main">
            <a:r>
              <a:t>- Operational evidence: docs/step28-observability-disaster-recovery.md</a:t>
            </a:r>
          </a:p>
          <a:p xmlns:a="http://schemas.openxmlformats.org/drawingml/2006/main">
            <a:r>
              <a:t>- Public repository: https://github.com/Isoldelu/software-engineering-agent</a:t>
            </a:r>
          </a:p>
          <a:p xmlns:a="http://schemas.openxmlformats.org/drawingml/2006/main">
            <a:r>
              <a:t>- Project boundaries: docs/project-showcase.md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e375057edb44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5b99aed6934d6e" /><Relationship Type="http://schemas.openxmlformats.org/officeDocument/2006/relationships/slideLayout" Target="/ppt/slideLayouts/slideLayout1.xml" Id="R8b16320a6e2842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16320a6e2842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02d72966b4411" /><Relationship Type="http://schemas.openxmlformats.org/officeDocument/2006/relationships/notesSlide" Target="/ppt/notesSlides/notesSlide1.xml" Id="R0964f64860974d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88e299062424e" /><Relationship Type="http://schemas.openxmlformats.org/officeDocument/2006/relationships/notesSlide" Target="/ppt/notesSlides/notesSlide2.xml" Id="R08c3f35237584b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702c5747b473a" /><Relationship Type="http://schemas.openxmlformats.org/officeDocument/2006/relationships/image" Target="/ppt/media/image.png" Id="Rb5dcaac975d949d0" /><Relationship Type="http://schemas.openxmlformats.org/officeDocument/2006/relationships/notesSlide" Target="/ppt/notesSlides/notesSlide3.xml" Id="Rfeb9184a1a4a4e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483c2ccb944b4" /><Relationship Type="http://schemas.openxmlformats.org/officeDocument/2006/relationships/image" Target="/ppt/media/image2.png" Id="Rcc4aad187755488e" /><Relationship Type="http://schemas.openxmlformats.org/officeDocument/2006/relationships/notesSlide" Target="/ppt/notesSlides/notesSlide4.xml" Id="Rb0c0219e3d8b4f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2cb3319c94f51" /><Relationship Type="http://schemas.openxmlformats.org/officeDocument/2006/relationships/notesSlide" Target="/ppt/notesSlides/notesSlide5.xml" Id="R5cbdc906c37842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AB05E-4F31-4D2F-AD38-1821BD42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CD36A-6A48-46B8-BC63-7DE28D89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AI4SE · INTERVIEW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43A04-47EC-4200-8836-DB23DD70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524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Software</a:t>
            </a:r>
          </a:p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Engineering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DBFD0-F604-4058-ACAC-F0BD150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面向软件研发场景的多工具检索、分析与受控优化系统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7F4F7-E16D-40E0-84F2-56067030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685800"/>
            <a:ext cx="306705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D1CF8-DDDD-484F-8A77-41F3A765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23950"/>
            <a:ext cx="2362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3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51866-A68F-4A65-A773-9B3C1CDD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19300"/>
            <a:ext cx="2286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Tools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7EEC6-097D-458A-A92F-8B2CC382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733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5BF8C7-1E0F-4754-8C48-5A8EB720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D9FDB-6D57-48ED-A842-A1B873ED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53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2FFE91-D61A-4FCB-98B8-77F85047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193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EE12D-190D-4609-81D7-8FACAEFC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531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frozen cases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EA7BB1-3644-497A-87A6-5746AE4F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4C587F-6B59-4EF4-8AA0-9EF6F2F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75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paid API calls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2E35B-9731-4E01-A6E1-AB068A40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公开模拟数据 · 个人方法论复现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F52F1-CE57-4225-BFFB-DC59571B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817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F55EA5-AF53-4CFD-8AA6-C0E5B4B7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它不是普通 RAG，而是一条可验证的 Agent 执行链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3CAB5-6E21-495F-B8CE-3A049421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64766-54DE-408D-B0C6-C7CD7D94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3634E-BD4C-40AB-861F-62E24961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826B6-C587-44D6-925C-51771A15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0F3E2-A320-4B8A-AFDE-83E3D64B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8214A-E3EE-4C28-AFB8-D7561370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F45DA-9291-47F3-B03F-0FE3DD98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3ADD1-626E-4C97-ABB5-DBD580F3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Query +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0D847-7442-4D8B-877B-E236034D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多轮实体解析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77503-0B0F-4EE9-ABE7-AA748F70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B"/>
          </a:solidFill>
          <a:ln xmlns:a="http://schemas.openxmlformats.org/drawingml/2006/main" w="19050">
            <a:solidFill>
              <a:srgbClr val="0B7A7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DB871-08EC-4154-89B4-19849CC9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0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Planner + 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5118B-C554-4F38-998A-1A73FAB1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单工具 / Hybrid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ABBA5-C66A-41C7-87A6-2AFB57B5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B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6F93A4-A012-49BE-A4DD-65B2043A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Execution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B0D989-2110-4E9E-9AD0-2AF65731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5 个领域工具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9987B-AC28-4C05-8007-F80AFAB8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74165A-2296-49F3-B2C4-DE165766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07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Evidence + Verifier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A2B2B-A417-4A20-83DF-E1313F1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引用与部分成功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0105E1-2488-4D15-9CCE-95406ADC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A08DA0-A74C-4F58-8BAE-36483F9D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Answer + Trace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CE4299-616C-4823-B7A3-126F023D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可回放执行轨迹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6A14F9-A862-487A-BD8A-EDF69250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知识与工具层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F3D227-1CDE-4B8A-A93C-86536AA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505200"/>
            <a:ext cx="939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08D4A7-F87A-4D31-A1BC-73BAAD6E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8F667E-1CAA-4EDF-BC4A-34E421E0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Structured Assets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DAAF36-47B2-4FAA-B18E-0C091CDC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Package · Dependency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Version · Component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93823B-FEDB-4FC9-A8F9-E55DA4B8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3D4"/>
          </a:solidFill>
          <a:ln xmlns:a="http://schemas.openxmlformats.org/drawingml/2006/main" w="0">
            <a:solidFill>
              <a:srgbClr val="3973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F7BCDA-55E7-4083-AD21-78D22870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RAG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5C1A53-4230-4263-89FE-D3BCF6AF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Legacy + BM25 + RRF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Reranker + No-answer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3D57A4-0391-4AAC-830E-9D11F8FD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8422"/>
          </a:solidFill>
          <a:ln xmlns:a="http://schemas.openxmlformats.org/drawingml/2006/main" w="0">
            <a:solidFill>
              <a:srgbClr val="C8842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EA13FB-1302-47EA-82C8-67408722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Control Plane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DFAC1D-62C0-4D94-827E-7F754730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Policy · Feedback · Audit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· Metrics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EF1A62-8568-4874-AB8B-9797D4D8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Trace → Evaluation → Bad-case Mining → Shadow Candidate → Human Review → Rollout / Rollback</a:t>
            </a:r>
          </a:p>
        </p:txBody>
      </p:sp>
    </p:spTree>
    <p:extLst>
      <p:ext uri="{BB962C8B-B14F-4D97-AF65-F5344CB8AC3E}">
        <p14:creationId xmlns:p14="http://schemas.microsoft.com/office/powerpoint/2010/main" val="16683922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9B6E1-9BA7-48AA-A281-C9C528B4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一个复合问题触发 3 个工具，并返回可追溯事实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2511C-7E80-4B8B-B3E0-AAFE4B78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04D11-50CA-47D0-8173-723CF5F7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9ABEC-3BE0-461F-9959-78F1D1A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“查一下 nginx 的版本变化和依赖”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3A875-33C9-4A37-80B4-6B4085DC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caac975d949d0"/>
          <a:stretch xmlns:a="http://schemas.openxmlformats.org/drawingml/2006/main"/>
        </p:blipFill>
        <p:spPr>
          <a:xfrm xmlns:a="http://schemas.openxmlformats.org/drawingml/2006/main">
            <a:off x="1039368" y="1771650"/>
            <a:ext cx="6227064" cy="4324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43AD9-9EE6-46F0-86C8-FF0933E0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14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7F030D-AE88-4ED7-9CF5-4B6BA397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Package Search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Dependency Analysis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Version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F3911F-9794-4D68-9391-E34D1DBE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4DA3F-C905-4048-8025-567AA477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338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CAD0EE-AC7F-4B7A-AFBC-D424E619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2C1E2-30A8-49E5-BD55-5D63DDAB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38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01C40F-E229-44D6-A4F9-FEC0C7FA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Citations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267DAA-9842-4AD0-ADB4-2046D1D3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43500"/>
            <a:ext cx="116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C6E361-ED7F-4DAF-8E5B-BC44F2F0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19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Verifier + Trace</a:t>
            </a:r>
          </a:p>
        </p:txBody>
      </p:sp>
    </p:spTree>
    <p:extLst>
      <p:ext uri="{BB962C8B-B14F-4D97-AF65-F5344CB8AC3E}">
        <p14:creationId xmlns:p14="http://schemas.microsoft.com/office/powerpoint/2010/main" val="18896753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D7789-55A1-4C50-8A83-6A4277EA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评测让优化可量化，也暴露了离线结果的边界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A5DEB-57AD-41E0-9934-BE77048D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AFC8B-DAA9-4084-9207-39BC7F38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611C0-70B6-4475-9E79-26099F13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rPr>
              <a:t>22.94%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B831C-F598-43C2-8DC5-8120A296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DirectLLMProxy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244A6-6A8C-47C6-95CC-3F02074E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57.06%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1D79B-BE17-458E-9D52-9AAC4679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RAGOnlyProxy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CEE63-F909-47FC-A034-DC92E33E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2D879-4DC8-4591-ADA9-97526311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EAFD0-B605-47D0-ACD6-D6CF38A2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67151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aad187755488e"/>
          <a:stretch xmlns:a="http://schemas.openxmlformats.org/drawingml/2006/main"/>
        </p:blipFill>
        <p:spPr>
          <a:xfrm xmlns:a="http://schemas.openxmlformats.org/drawingml/2006/main">
            <a:off x="1463231" y="2667000"/>
            <a:ext cx="4855464" cy="33718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ABE6C-121E-4613-9C64-8C03DA3A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Router 优化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F8A32-CD80-48D1-96BC-AFA005F4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050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61.76%  → 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024D6E-A664-4BC7-91C4-75B76B49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alias mapping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description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planner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bad-case regression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27DF91-CEE2-47A9-97E0-9FB3313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386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68861-046C-4CDE-90D0-AC3D90BB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7244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193 / 193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682970-4B39-4164-AAF7-89CEADBF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冻结评测通过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2ABFE-03AA-44D5-B641-AA305D30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772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7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离线 Proxy 与模拟数据，不等同于真实模型 A/B</a:t>
            </a:r>
          </a:p>
        </p:txBody>
      </p:sp>
    </p:spTree>
    <p:extLst>
      <p:ext uri="{BB962C8B-B14F-4D97-AF65-F5344CB8AC3E}">
        <p14:creationId xmlns:p14="http://schemas.microsoft.com/office/powerpoint/2010/main" val="7643539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31C6AE-549A-4029-9B84-1D5DA002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0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完整工程闭环已验证，真实 Provider A/B 是下一项独立实验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DB325-615F-46E2-BDC1-0A1314FD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CFE8D-35CC-4B70-82C9-E681E6D1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D358C-CC46-43FB-956C-1DCAEBA7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工程证据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D6C8C-7A97-4C4F-A3B7-C81E6127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7DFF5-2C1B-4DE1-BE19-CFBFC4A1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8C4FB-7B9E-4093-A94C-9FBA79C6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100/100 + 40/40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9F722-FBB7-45C2-BBAD-3B93AC2B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load / recovery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F02DC-44CF-42E3-9973-84922F10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16+14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9FB03-7576-40DA-8680-D28DE9DD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38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bridge gates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FBFE9D-428C-494C-BB57-5E2F5CFD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9F631-BC76-4870-830B-45E04CA5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受控边界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DC40AB-B4BA-46BA-8830-592266CD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76450"/>
            <a:ext cx="30289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公开风格模拟数据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不复制企业内部资产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候选策略默认 inactive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Shadow + 人审 + Reviewed Bridge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灰度发布与自动回滚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7E191-ABEF-4C7C-AE3A-587D4C8F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62500"/>
            <a:ext cx="2895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0">
            <a:solidFill>
              <a:srgbClr val="F9ED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D8736-BF6B-4132-A710-CFC9FE8F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真实 Provider A/B</a:t>
            </a:r>
          </a:p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尚未执行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5B81B-6429-4E21-8A18-D13A589A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43D25-09FB-4278-96DA-45442382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0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可直接验收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00FFB3-F667-4E43-B597-D41DF08D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GitHub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4B3634-D43D-4D5D-B68D-6D622DCC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· Docker · 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02BBA9-947D-4DD7-90B8-7343E24A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Run 33363220127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7C812-79D6-4DEC-B6C9-79065CF9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9908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github.com/Isoldelu/</a:t>
            </a:r>
          </a:p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software-engineering-agent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5E1C9-1C92-444F-A8C3-B697255E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482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下一步：小预算 Provider A/B</a:t>
            </a:r>
          </a:p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固定 12 条代表性 Query，显式记录成本与失败回退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A826E3-F408-4C68-BC68-FD00B9A3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结论：这是一个有工具、有证据、有评测、可部署、可回滚的 AI4SE Agent。</a:t>
            </a:r>
          </a:p>
        </p:txBody>
      </p:sp>
    </p:spTree>
    <p:extLst>
      <p:ext uri="{BB962C8B-B14F-4D97-AF65-F5344CB8AC3E}">
        <p14:creationId xmlns:p14="http://schemas.microsoft.com/office/powerpoint/2010/main" val="1382888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2026-08-31T06:20:44.9640000Z</dcterms:created>
  <dcterms:modified xsi:type="dcterms:W3CDTF">2026-08-31T06:20:44.9640000Z</dcterms:modified>
</coreProperties>
</file>