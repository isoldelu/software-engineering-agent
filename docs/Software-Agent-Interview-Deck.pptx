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6e4848358c43ee" /><Relationship Type="http://schemas.openxmlformats.org/officeDocument/2006/relationships/extended-properties" Target="/docProps/app.xml" Id="R2584448689ec4600" /><Relationship Type="http://schemas.openxmlformats.org/officeDocument/2006/relationships/officeDocument" Target="/ppt/presentation.xml" Id="R160cb8840e3a4f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30c4c1217b4713"/>
  </p:sldMasterIdLst>
  <p:notesMasterIdLst>
    <p:notesMasterId xmlns:r="http://schemas.openxmlformats.org/officeDocument/2006/relationships" r:id="R353c2d8643384d0d"/>
  </p:notesMasterIdLst>
  <p:sldIdLst>
    <p:sldId xmlns:r="http://schemas.openxmlformats.org/officeDocument/2006/relationships" id="256" r:id="R3f92d30697c84a01"/>
    <p:sldId xmlns:r="http://schemas.openxmlformats.org/officeDocument/2006/relationships" id="257" r:id="R402fddb2281c4d61"/>
    <p:sldId xmlns:r="http://schemas.openxmlformats.org/officeDocument/2006/relationships" id="258" r:id="Rae141cd615c6443e"/>
    <p:sldId xmlns:r="http://schemas.openxmlformats.org/officeDocument/2006/relationships" id="259" r:id="R6bb192fee711433c"/>
    <p:sldId xmlns:r="http://schemas.openxmlformats.org/officeDocument/2006/relationships" id="260" r:id="R3ee2142ac4d141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bfb7ad88ac4f8c" /><Relationship Type="http://schemas.openxmlformats.org/officeDocument/2006/relationships/slideMaster" Target="/ppt/slideMasters/slideMaster1.xml" Id="R3430c4c1217b4713" /><Relationship Type="http://schemas.openxmlformats.org/officeDocument/2006/relationships/notesMaster" Target="/ppt/notesMasters/notesMaster1.xml" Id="R353c2d8643384d0d" /><Relationship Type="http://schemas.openxmlformats.org/officeDocument/2006/relationships/presProps" Target="/ppt/presProps.xml" Id="R45d145526b5b4962" /><Relationship Type="http://schemas.openxmlformats.org/officeDocument/2006/relationships/tableStyles" Target="/ppt/tableStyles.xml" Id="R558205c35cad4be0" /><Relationship Type="http://schemas.openxmlformats.org/officeDocument/2006/relationships/slide" Target="/ppt/slides/slide1.xml" Id="R3f92d30697c84a01" /><Relationship Type="http://schemas.openxmlformats.org/officeDocument/2006/relationships/slide" Target="/ppt/slides/slide2.xml" Id="R402fddb2281c4d61" /><Relationship Type="http://schemas.openxmlformats.org/officeDocument/2006/relationships/slide" Target="/ppt/slides/slide3.xml" Id="Rae141cd615c6443e" /><Relationship Type="http://schemas.openxmlformats.org/officeDocument/2006/relationships/slide" Target="/ppt/slides/slide4.xml" Id="R6bb192fee711433c" /><Relationship Type="http://schemas.openxmlformats.org/officeDocument/2006/relationships/slide" Target="/ppt/slides/slide5.xml" Id="R3ee2142ac4d141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7e9b97bbf149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e63e088877466d" /><Relationship Type="http://schemas.openxmlformats.org/officeDocument/2006/relationships/notesMaster" Target="/ppt/notesMasters/notesMaster1.xml" Id="R12f6e6d58b754f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c8b91205564bf3" /><Relationship Type="http://schemas.openxmlformats.org/officeDocument/2006/relationships/notesMaster" Target="/ppt/notesMasters/notesMaster1.xml" Id="Rf0838630a1e047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29c6c7d9dd450e" /><Relationship Type="http://schemas.openxmlformats.org/officeDocument/2006/relationships/notesMaster" Target="/ppt/notesMasters/notesMaster1.xml" Id="R5568bea61ef243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96208d6a7942db" /><Relationship Type="http://schemas.openxmlformats.org/officeDocument/2006/relationships/notesMaster" Target="/ppt/notesMasters/notesMaster1.xml" Id="R3969c017626f44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2f91bca8b5493a" /><Relationship Type="http://schemas.openxmlformats.org/officeDocument/2006/relationships/notesMaster" Target="/ppt/notesMasters/notesMaster1.xml" Id="R28a932f4dcb643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这不是华为内部系统的复刻，而是我基于公开风格模拟数据完成的个人方法论复现。项目目标是验证多工具 Agent 在软件资产查询、依赖分析、版本比较和研发文档检索中的完整闭环。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README: README.md</a:t>
            </a:r>
          </a:p>
          <a:p xmlns:a="http://schemas.openxmlformats.org/drawingml/2006/main">
            <a:r>
              <a:t>- Local compliance audit: docs/public-release-audit.md</a:t>
            </a:r>
          </a:p>
          <a:p xmlns:a="http://schemas.openxmlformats.org/drawingml/2006/main">
            <a:r>
              <a:t>- Current CI evidence: https://github.com/Isoldelu/software-engineering-agent/actions/runs/33314875879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核心区别是先规划、再调用工具、再收集 Evidence，最后由确定性 Verifier 判断是否满足任务。Trace 同时进入评测和受控优化环路，候选策略只能经过 Shadow、全量回归和人工审核后发布，并支持灰度与回滚。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architecture: docs/architecture-v2.md</a:t>
            </a:r>
          </a:p>
          <a:p xmlns:a="http://schemas.openxmlformats.org/drawingml/2006/main">
            <a:r>
              <a:t>- Evidence and citation contract: docs/evidence-citation.md</a:t>
            </a:r>
          </a:p>
          <a:p xmlns:a="http://schemas.openxmlformats.org/drawingml/2006/main">
            <a:r>
              <a:t>- Controlled evolution: docs/offline-controlled-evolution.md</a:t>
            </a:r>
          </a:p>
          <a:p xmlns:a="http://schemas.openxmlformats.org/drawingml/2006/main">
            <a:r>
              <a:t>- Policy rollout: docs/policy-rollout.md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现场只演示一个复合 Query。Planner 没有靠单个关键词直接结束，而是组合 Package、Dependency、Version 三个工具。每个工具输出都被标准化成 Evidence 和 Citation，Verifier 通过，Trace 完整可回放。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browser screenshot: docs/assets/agent-demo.png</a:t>
            </a:r>
          </a:p>
          <a:p xmlns:a="http://schemas.openxmlformats.org/drawingml/2006/main">
            <a:r>
              <a:t>- Executable demo: examples/interview_demo.py</a:t>
            </a:r>
          </a:p>
          <a:p xmlns:a="http://schemas.openxmlformats.org/drawingml/2006/main">
            <a:r>
              <a:t>- Demo runbook: docs/demo-runbook.md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评测分为任务成功率、工具路由准确率、答案正确性和调用效率。早期关键词 Router 在挑战集上只有 61.76%，加入别名、工具描述、Planner 和 Bad-case 回归后达到冻结集 100%。这里的 DirectLLMProxy 与 RAGOnlyProxy 是离线可复现基线，不冒充真实商业模型。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evaluation dashboard screenshot: docs/assets/evaluation-dashboard.png</a:t>
            </a:r>
          </a:p>
          <a:p xmlns:a="http://schemas.openxmlformats.org/drawingml/2006/main">
            <a:r>
              <a:t>- Experiment results: docs/experiment_results.md</a:t>
            </a:r>
          </a:p>
          <a:p xmlns:a="http://schemas.openxmlformats.org/drawingml/2006/main">
            <a:r>
              <a:t>- Current project summary: docs/project_summary.md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最后用工程证据和诚实边界收口。当前 CI 已覆盖测试、Docker 和真实 PostgreSQL 多 Worker 路径；受控自进化不会自动修改源码或直接上线。还没有做的是付费真实 Provider A/B，这应作为预算明确后的独立实验，而不是阻塞现有项目交付。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GitHub Actions Run: https://github.com/Isoldelu/software-engineering-agent/actions/runs/33314875879</a:t>
            </a:r>
          </a:p>
          <a:p xmlns:a="http://schemas.openxmlformats.org/drawingml/2006/main">
            <a:r>
              <a:t>- Operational evidence: docs/step28-observability-disaster-recovery.md</a:t>
            </a:r>
          </a:p>
          <a:p xmlns:a="http://schemas.openxmlformats.org/drawingml/2006/main">
            <a:r>
              <a:t>- Public repository: https://github.com/Isoldelu/software-engineering-agent</a:t>
            </a:r>
          </a:p>
          <a:p xmlns:a="http://schemas.openxmlformats.org/drawingml/2006/main">
            <a:r>
              <a:t>- Project boundaries: docs/project-showcase.md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921d5008b646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d9f1eae1964747" /><Relationship Type="http://schemas.openxmlformats.org/officeDocument/2006/relationships/slideLayout" Target="/ppt/slideLayouts/slideLayout1.xml" Id="R71e29550d58f41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e29550d58f41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1c4cc145c41c4" /><Relationship Type="http://schemas.openxmlformats.org/officeDocument/2006/relationships/notesSlide" Target="/ppt/notesSlides/notesSlide1.xml" Id="R96cc6a7264154b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e08d8bc574765" /><Relationship Type="http://schemas.openxmlformats.org/officeDocument/2006/relationships/notesSlide" Target="/ppt/notesSlides/notesSlide2.xml" Id="Rd86243b7b5a449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345d2a7934b76" /><Relationship Type="http://schemas.openxmlformats.org/officeDocument/2006/relationships/image" Target="/ppt/media/image.png" Id="R75e845c236584214" /><Relationship Type="http://schemas.openxmlformats.org/officeDocument/2006/relationships/notesSlide" Target="/ppt/notesSlides/notesSlide3.xml" Id="R6f722be8345945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f6d0a71dd4a56" /><Relationship Type="http://schemas.openxmlformats.org/officeDocument/2006/relationships/image" Target="/ppt/media/image2.png" Id="Ra10a762e6c4046f9" /><Relationship Type="http://schemas.openxmlformats.org/officeDocument/2006/relationships/notesSlide" Target="/ppt/notesSlides/notesSlide4.xml" Id="R7c7c0f7b4af849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0c31fe2f44c43" /><Relationship Type="http://schemas.openxmlformats.org/officeDocument/2006/relationships/notesSlide" Target="/ppt/notesSlides/notesSlide5.xml" Id="R5ece5965aa3147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C5A807-45E2-4128-87C7-970F790C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B7A7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DADDD-DA53-41EA-968A-5FCF3A7D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AI4SE · INTERVIEW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F012D-8136-459D-A7A2-A3ABBC07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524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Software</a:t>
            </a:r>
          </a:p>
          <a:p xmlns:a="http://schemas.openxmlformats.org/drawingml/2006/main">
            <a:pPr algn="l">
              <a:defRPr sz="52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Engineering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A9896-3D1E-4484-B823-62CAE054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面向软件研发场景的多工具检索、分析与受控优化系统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EF0B8-86CE-496B-A392-968F2AE3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85800"/>
            <a:ext cx="3067050" cy="481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6552B-C6F7-4154-BAB6-80489846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23950"/>
            <a:ext cx="2362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D7796-BC60-4FAB-BEDF-7FBCEA34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19300"/>
            <a:ext cx="2286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B9DC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B9DCD8"/>
                </a:solidFill>
                <a:latin typeface="Microsoft YaHei"/>
                <a:ea typeface="Microsoft YaHei"/>
                <a:cs typeface="Microsoft YaHei"/>
              </a:rPr>
              <a:t>Tools</a:t>
            </a:r>
          </a:p>
          <a:p xmlns:a="http://schemas.openxmlformats.org/drawingml/2006/main">
            <a:pPr algn="l">
              <a:defRPr sz="2325" b="0">
                <a:solidFill>
                  <a:srgbClr val="B9DC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B9DCD8"/>
                </a:solidFill>
                <a:latin typeface="Microsoft YaHei"/>
                <a:ea typeface="Microsoft YaHei"/>
                <a:cs typeface="Microsoft YaHei"/>
              </a:rPr>
              <a:t>Evidence</a:t>
            </a:r>
          </a:p>
          <a:p xmlns:a="http://schemas.openxmlformats.org/drawingml/2006/main">
            <a:pPr algn="l">
              <a:defRPr sz="2325" b="0">
                <a:solidFill>
                  <a:srgbClr val="B9DC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B9DCD8"/>
                </a:solidFill>
                <a:latin typeface="Microsoft YaHei"/>
                <a:ea typeface="Microsoft YaHei"/>
                <a:cs typeface="Microsoft YaHei"/>
              </a:rPr>
              <a:t>Verifier</a:t>
            </a:r>
          </a:p>
          <a:p xmlns:a="http://schemas.openxmlformats.org/drawingml/2006/main">
            <a:pPr algn="l">
              <a:defRPr sz="2325" b="0">
                <a:solidFill>
                  <a:srgbClr val="B9DC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B9DCD8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  <a:p xmlns:a="http://schemas.openxmlformats.org/drawingml/2006/main">
            <a:pPr algn="l">
              <a:defRPr sz="2325" b="0">
                <a:solidFill>
                  <a:srgbClr val="B9DC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B9DCD8"/>
                </a:solidFill>
                <a:latin typeface="Microsoft YaHei"/>
                <a:ea typeface="Microsoft YaHei"/>
                <a:cs typeface="Microsoft YaHei"/>
              </a:rPr>
              <a:t>Evaluation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8FA0F-A3F4-4136-8C13-A28AAA2E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733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F"/>
          </a:solidFill>
          <a:ln xmlns:a="http://schemas.openxmlformats.org/drawingml/2006/main" w="0">
            <a:solidFill>
              <a:srgbClr val="E8EC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E40BC-9238-4113-A39F-3F4A1D34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10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138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CD8346-42C1-47C9-A48E-A864D7A0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31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F8D317-82C6-4DA9-BB46-A0A8C054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19700"/>
            <a:ext cx="110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973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973D4"/>
                </a:solidFill>
                <a:latin typeface="Microsoft YaHei"/>
                <a:ea typeface="Microsoft YaHei"/>
                <a:cs typeface="Microsoft YaHei"/>
              </a:rPr>
              <a:t>193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229F30-2A7D-4262-814F-BABB5238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7531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frozen cases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25EB89-E5B9-4E16-8D78-889CE0AE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10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88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88422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35DC94-6891-4BC0-AD3D-C415FC48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753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paid API calls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B73CE4-408B-4570-90CB-BB66D2BA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公开模拟数据 · 个人方法论复现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13E844-F464-4016-9B85-D3F4042F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401831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31A972-7EBB-48BA-B889-0901A9D1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它不是普通 RAG，而是一条可验证的 Agent 执行链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F8FD6-D82E-4A24-AF97-A261B81A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F"/>
          </a:solidFill>
          <a:ln xmlns:a="http://schemas.openxmlformats.org/drawingml/2006/main" w="0">
            <a:solidFill>
              <a:srgbClr val="E8EC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48B7C-46B4-4289-8521-899F5271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3B345-ED92-404D-B5CC-8F3785FF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52625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0EDE2-EC95-4D47-8894-071BA28A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52625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7B4033-34F1-42B7-B994-CEA75807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52625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A0073-96EF-45B7-9837-9098328B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52625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9DD18-5DC8-48D5-BA87-D8CBBC9B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18859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E8EC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68C97-6CB2-458E-819F-CE286043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43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Query +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5E6051-A485-41C7-8C95-4965D763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多轮实体解析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FCA482-6718-4B40-9713-977ACC75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581150"/>
            <a:ext cx="18859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B"/>
          </a:solidFill>
          <a:ln xmlns:a="http://schemas.openxmlformats.org/drawingml/2006/main" w="19050">
            <a:solidFill>
              <a:srgbClr val="0B7A7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A1F909-5AEF-4EA9-B63A-E8999702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907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04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Planner + Router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481A5-3E10-41AB-90DF-1772FA4B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单工具 / Hybrid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982D99-7699-4ACD-94FE-83BBF01D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581150"/>
            <a:ext cx="18859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B"/>
          </a:solidFill>
          <a:ln xmlns:a="http://schemas.openxmlformats.org/drawingml/2006/main" w="9525">
            <a:solidFill>
              <a:srgbClr val="E8EC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8991BF-8A36-4FCE-9E01-F4338D4F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907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Tool Execution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2C6A47-A5EC-4E03-B2AA-B85280F8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24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5 个领域工具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9D4A6C-527E-4021-84A1-D526734B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81150"/>
            <a:ext cx="18859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DD9"/>
          </a:solidFill>
          <a:ln xmlns:a="http://schemas.openxmlformats.org/drawingml/2006/main" w="9525">
            <a:solidFill>
              <a:srgbClr val="E8EC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6A52AB-C001-4B4E-A219-B4661C55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00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Evidence + Verifier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9A2901-5103-4FE9-A805-9033070B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24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引用与部分成功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9741AD-AE56-4882-8929-1D01948F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581150"/>
            <a:ext cx="18859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E8EC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3A7F12-5C9D-4C38-9422-55EB5C21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7907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3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Answer + Trace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325C0D-9B0F-432A-9C49-EA40D2BA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24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可回放执行轨迹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CD4EFE-4255-4494-8F62-C9EB0441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知识与工具层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272A3C-1EA6-4F40-96BE-5AD10D2A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05200"/>
            <a:ext cx="9391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F"/>
          </a:solidFill>
          <a:ln xmlns:a="http://schemas.openxmlformats.org/drawingml/2006/main" w="0">
            <a:solidFill>
              <a:srgbClr val="E8EC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33223A-8A6A-489B-8AED-B6F35BCC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3162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B7A7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73146B-2816-4D93-AFA6-2B795FCB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Structured Assets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1EECB6-5268-4244-9747-A16C2B41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006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Package · Dependency</a:t>
            </a:r>
          </a:p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Version · Component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630BEF-4428-4555-BD6F-95A76300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38600"/>
            <a:ext cx="3162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D4"/>
          </a:solidFill>
          <a:ln xmlns:a="http://schemas.openxmlformats.org/drawingml/2006/main" w="0">
            <a:solidFill>
              <a:srgbClr val="3973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386415-B47D-4098-8EDA-3954AEB1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053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Hybrid RAG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A1A70E-C062-44AE-BC28-2C15DA8A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006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Legacy + BM25 + RRF</a:t>
            </a:r>
          </a:p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Reranker + No-answer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8BB824-7751-4FCE-9FB7-125B47CB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38600"/>
            <a:ext cx="3162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422"/>
          </a:solidFill>
          <a:ln xmlns:a="http://schemas.openxmlformats.org/drawingml/2006/main" w="0">
            <a:solidFill>
              <a:srgbClr val="C8842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1A72E3-7883-4DC3-859B-835B23C7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053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Control Plane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210F45-0035-4313-A308-29FF18B0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006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Policy · Feedback · Audit</a:t>
            </a:r>
          </a:p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PostgreSQL · Metrics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8143FA-4226-4601-B198-75D95B0E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Trace → Evaluation → Bad-case Mining → Shadow Candidate → Human Review → Rollout / Rollback</a:t>
            </a:r>
          </a:p>
        </p:txBody>
      </p:sp>
    </p:spTree>
    <p:extLst>
      <p:ext uri="{BB962C8B-B14F-4D97-AF65-F5344CB8AC3E}">
        <p14:creationId xmlns:p14="http://schemas.microsoft.com/office/powerpoint/2010/main" val="7894546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547BA3-97B8-4865-9B56-E51B852F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一个复合问题触发 3 个工具，并返回可追溯事实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7274B-BFF8-416B-AC23-77C4E45B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F"/>
          </a:solidFill>
          <a:ln xmlns:a="http://schemas.openxmlformats.org/drawingml/2006/main" w="0">
            <a:solidFill>
              <a:srgbClr val="E8EC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B81EF-6F53-480B-816E-CF00A9A9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53C3B-1C61-490D-8ABC-A0AC6EA3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“查一下 nginx 的版本变化和依赖”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CD20F-6469-46F1-9C77-AC408783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7239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E8ECE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e845c236584214"/>
          <a:stretch xmlns:a="http://schemas.openxmlformats.org/drawingml/2006/main"/>
        </p:blipFill>
        <p:spPr>
          <a:xfrm xmlns:a="http://schemas.openxmlformats.org/drawingml/2006/main">
            <a:off x="1039368" y="1771650"/>
            <a:ext cx="6227064" cy="4324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359B4-D961-4835-B3BD-E5CEB4AC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14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203C5-CC51-4A6F-A76A-ED5230BD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76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Package Search</a:t>
            </a:r>
          </a:p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Dependency Analysis</a:t>
            </a:r>
          </a:p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Version Compare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597DF9-588A-4363-9D60-696D850C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F"/>
          </a:solidFill>
          <a:ln xmlns:a="http://schemas.openxmlformats.org/drawingml/2006/main" w="0">
            <a:solidFill>
              <a:srgbClr val="E8EC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55FFC-973C-4DB0-80F9-39078C07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338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A9E249-FD4A-4AA5-A81B-8EC2376D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862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D7A10A-836D-4FDE-8979-B35A1AC8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386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973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3973D4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0BF400-16EC-4404-9B52-21B21008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91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Citations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A2B04-C3C8-477B-B025-3C0CA1CB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4350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47A4A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8BE9F-138C-4DFB-8ED8-78647658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19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Verifier + Trace</a:t>
            </a:r>
          </a:p>
        </p:txBody>
      </p:sp>
    </p:spTree>
    <p:extLst>
      <p:ext uri="{BB962C8B-B14F-4D97-AF65-F5344CB8AC3E}">
        <p14:creationId xmlns:p14="http://schemas.microsoft.com/office/powerpoint/2010/main" val="12551952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A4281-7E95-447C-90DE-DB460CEA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评测让优化可量化，也暴露了离线结果的边界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B35C8-C2AB-4B0D-BBC5-4AA9C7B9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F"/>
          </a:solidFill>
          <a:ln xmlns:a="http://schemas.openxmlformats.org/drawingml/2006/main" w="0">
            <a:solidFill>
              <a:srgbClr val="E8EC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A07303-75A1-42DE-9F59-C851AB60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AD368-7D73-4B7C-B724-1634B9B6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B447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4473D"/>
                </a:solidFill>
                <a:latin typeface="Microsoft YaHei"/>
                <a:ea typeface="Microsoft YaHei"/>
                <a:cs typeface="Microsoft YaHei"/>
              </a:rPr>
              <a:t>22.94%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872B9-83C7-4BB2-AC57-FB258D0E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DirectLLMProxy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440D3-909E-4E4B-84B4-E652E8B6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3906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973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3973D4"/>
                </a:solidFill>
                <a:latin typeface="Microsoft YaHei"/>
                <a:ea typeface="Microsoft YaHei"/>
                <a:cs typeface="Microsoft YaHei"/>
              </a:rPr>
              <a:t>57.06%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66FA7-2F15-4F1E-A6A8-113B2049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716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RAGOnlyProxy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D267D-4BAF-4C80-8A77-C9E4DF9C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3906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7A4A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16C4A-B0E4-4D34-88BD-43F5A3CC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716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04FB2-09D4-4C23-B26F-AE799A7B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67151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E8ECEF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a762e6c4046f9"/>
          <a:stretch xmlns:a="http://schemas.openxmlformats.org/drawingml/2006/main"/>
        </p:blipFill>
        <p:spPr>
          <a:xfrm xmlns:a="http://schemas.openxmlformats.org/drawingml/2006/main">
            <a:off x="1463231" y="2667000"/>
            <a:ext cx="4855464" cy="33718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41278-BAF8-4038-8ACA-C5BEC13A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428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Router 优化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E0823-BA7B-414D-878B-B26FDFAC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050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61.76%  →  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5DE7A3-BAD2-4722-A619-3ECA3611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2415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alias mapping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tool description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hybrid planner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bad-case regression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0E9023-8D2B-4F87-BAA7-4BDFAE92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F"/>
          </a:solidFill>
          <a:ln xmlns:a="http://schemas.openxmlformats.org/drawingml/2006/main" w="0">
            <a:solidFill>
              <a:srgbClr val="E8EC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F4BA7C-AE85-4D0C-8D9F-062303AF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7244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47A4A"/>
                </a:solidFill>
                <a:latin typeface="Microsoft YaHei"/>
                <a:ea typeface="Microsoft YaHei"/>
                <a:cs typeface="Microsoft YaHei"/>
              </a:rPr>
              <a:t>193 / 193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9E1281-D387-494E-8DF1-25942912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257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冻结评测通过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969B65-036D-45CC-BB03-86BAB96A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7721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573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8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88422"/>
                </a:solidFill>
                <a:latin typeface="Microsoft YaHei"/>
                <a:ea typeface="Microsoft YaHei"/>
                <a:cs typeface="Microsoft YaHei"/>
              </a:rPr>
              <a:t>离线 Proxy 与模拟数据，不等同于真实模型 A/B</a:t>
            </a:r>
          </a:p>
        </p:txBody>
      </p:sp>
    </p:spTree>
    <p:extLst>
      <p:ext uri="{BB962C8B-B14F-4D97-AF65-F5344CB8AC3E}">
        <p14:creationId xmlns:p14="http://schemas.microsoft.com/office/powerpoint/2010/main" val="3790773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831420-7FDB-478E-9FB7-15A68A3D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01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完整工程闭环已验证，真实 Provider A/B 是下一项独立实验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99CB8-4C89-4019-9EDD-A44C1647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F"/>
          </a:solidFill>
          <a:ln xmlns:a="http://schemas.openxmlformats.org/drawingml/2006/main" w="0">
            <a:solidFill>
              <a:srgbClr val="E8EC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09D49-ED6D-4DEB-AE56-9D3E1BA6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48F16-B90A-481B-BA64-90D56253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工程证据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1291D-4788-4FC9-91D9-1C4E5D05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59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138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B35C0-4066-4A31-A18E-2E4BC3CF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tests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BDC2C-1533-496C-B654-220E2EEE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973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973D4"/>
                </a:solidFill>
                <a:latin typeface="Microsoft YaHei"/>
                <a:ea typeface="Microsoft YaHei"/>
                <a:cs typeface="Microsoft YaHei"/>
              </a:rPr>
              <a:t>100/100 + 40/40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8DD33-4F1E-4A91-A627-6A6645D2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PostgreSQL load / recovery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31F48-6780-4CAB-A5A8-783FCA73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7A4A"/>
                </a:solidFill>
                <a:latin typeface="Microsoft YaHei"/>
                <a:ea typeface="Microsoft YaHei"/>
                <a:cs typeface="Microsoft YaHei"/>
              </a:rPr>
              <a:t>6/6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6A02F-9BBB-42C8-9FF3-A9061951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38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fault gates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1C6A8C-A560-4C51-B2DA-AAEB28F4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9065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89C15-EFF2-4B9A-84B3-9C99438E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09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受控边界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01E085-682D-40BF-8977-E6458478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0289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公开风格模拟数据</a:t>
            </a:r>
          </a:p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不复制企业内部资产</a:t>
            </a:r>
          </a:p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候选策略默认 inactive</a:t>
            </a:r>
          </a:p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Shadow + 全量回归 + 人审</a:t>
            </a:r>
          </a:p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灰度发布与自动回滚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EFC726-C7DE-4ABC-A0C1-749E7267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62500"/>
            <a:ext cx="2895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DD9"/>
          </a:solidFill>
          <a:ln xmlns:a="http://schemas.openxmlformats.org/drawingml/2006/main" w="0">
            <a:solidFill>
              <a:srgbClr val="F9ED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9A927D-B3CD-4793-B928-9C18CED8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768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8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88422"/>
                </a:solidFill>
                <a:latin typeface="Microsoft YaHei"/>
                <a:ea typeface="Microsoft YaHei"/>
                <a:cs typeface="Microsoft YaHei"/>
              </a:rPr>
              <a:t>真实 Provider A/B</a:t>
            </a:r>
          </a:p>
          <a:p xmlns:a="http://schemas.openxmlformats.org/drawingml/2006/main">
            <a:pPr algn="ctr">
              <a:defRPr sz="1575" b="1">
                <a:solidFill>
                  <a:srgbClr val="C88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88422"/>
                </a:solidFill>
                <a:latin typeface="Microsoft YaHei"/>
                <a:ea typeface="Microsoft YaHei"/>
                <a:cs typeface="Microsoft YaHei"/>
              </a:rPr>
              <a:t>尚未执行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E422DB-BC61-47A5-8395-116E0F36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9065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DD6F93-239A-483D-BDDD-2D51C4BB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409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可直接验收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4FE05A-F5A2-4789-93E6-ED60E325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7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7A4A"/>
                </a:solidFill>
                <a:latin typeface="Microsoft YaHei"/>
                <a:ea typeface="Microsoft YaHei"/>
                <a:cs typeface="Microsoft YaHei"/>
              </a:rPr>
              <a:t>GitHub Actions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5DF451-DF72-4C04-8BF0-2872BBBF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527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Tests · Docker · PostgreSQL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310EA1-8040-462D-9272-1D2876EE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Run 33314875879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B221F2-D225-4D31-80F0-D280E7CD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05250"/>
            <a:ext cx="2990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973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973D4"/>
                </a:solidFill>
                <a:latin typeface="Microsoft YaHei"/>
                <a:ea typeface="Microsoft YaHei"/>
                <a:cs typeface="Microsoft YaHei"/>
              </a:rPr>
              <a:t>github.com/Isoldelu/</a:t>
            </a:r>
          </a:p>
          <a:p xmlns:a="http://schemas.openxmlformats.org/drawingml/2006/main">
            <a:pPr algn="l">
              <a:defRPr sz="1500" b="1">
                <a:solidFill>
                  <a:srgbClr val="3973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973D4"/>
                </a:solidFill>
                <a:latin typeface="Microsoft YaHei"/>
                <a:ea typeface="Microsoft YaHei"/>
                <a:cs typeface="Microsoft YaHei"/>
              </a:rPr>
              <a:t>software-engineering-agent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D31C39-C010-4C5D-8FA2-C6B4B770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48250"/>
            <a:ext cx="3105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下一步：小预算 Provider A/B</a:t>
            </a:r>
          </a:p>
          <a:p xmlns:a="http://schemas.openxmlformats.org/drawingml/2006/main">
            <a:pPr algn="l">
              <a:defRPr sz="13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6"/>
                </a:solidFill>
                <a:latin typeface="Microsoft YaHei"/>
                <a:ea typeface="Microsoft YaHei"/>
                <a:cs typeface="Microsoft YaHei"/>
              </a:rPr>
              <a:t>固定 12 条代表性 Query，显式记录成本与失败回退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0AA345-0DE9-4AD6-8732-650D09CD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38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7A75"/>
                </a:solidFill>
                <a:latin typeface="Microsoft YaHei"/>
                <a:ea typeface="Microsoft YaHei"/>
                <a:cs typeface="Microsoft YaHei"/>
              </a:rPr>
              <a:t>结论：这是一个有工具、有证据、有评测、可部署、可回滚的 AI4SE Agent。</a:t>
            </a:r>
          </a:p>
        </p:txBody>
      </p:sp>
    </p:spTree>
    <p:extLst>
      <p:ext uri="{BB962C8B-B14F-4D97-AF65-F5344CB8AC3E}">
        <p14:creationId xmlns:p14="http://schemas.microsoft.com/office/powerpoint/2010/main" val="7882390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2026-08-30T13:46:24.1960000Z</dcterms:created>
  <dcterms:modified xsi:type="dcterms:W3CDTF">2026-08-30T13:46:24.1960000Z</dcterms:modified>
</coreProperties>
</file>