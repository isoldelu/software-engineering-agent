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9c29630d722471f" /><Relationship Type="http://schemas.openxmlformats.org/officeDocument/2006/relationships/extended-properties" Target="/docProps/app.xml" Id="R189225ac9e14451c" /><Relationship Type="http://schemas.openxmlformats.org/officeDocument/2006/relationships/officeDocument" Target="/ppt/presentation.xml" Id="R1cb4284db3b34c9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1da8c5b0c8249bd"/>
  </p:sldMasterIdLst>
  <p:notesMasterIdLst>
    <p:notesMasterId xmlns:r="http://schemas.openxmlformats.org/officeDocument/2006/relationships" r:id="Rb92fe46859ef4635"/>
  </p:notesMasterIdLst>
  <p:sldIdLst>
    <p:sldId xmlns:r="http://schemas.openxmlformats.org/officeDocument/2006/relationships" id="256" r:id="Re541306fb0e840c7"/>
    <p:sldId xmlns:r="http://schemas.openxmlformats.org/officeDocument/2006/relationships" id="257" r:id="Rc9102bfdb83249e4"/>
    <p:sldId xmlns:r="http://schemas.openxmlformats.org/officeDocument/2006/relationships" id="258" r:id="Rf9b14ff73c114123"/>
    <p:sldId xmlns:r="http://schemas.openxmlformats.org/officeDocument/2006/relationships" id="259" r:id="R4ce22cd5be1c4a76"/>
    <p:sldId xmlns:r="http://schemas.openxmlformats.org/officeDocument/2006/relationships" id="260" r:id="Rc4e4e802a8cf438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1a58d8ad5414978" /><Relationship Type="http://schemas.openxmlformats.org/officeDocument/2006/relationships/slideMaster" Target="/ppt/slideMasters/slideMaster1.xml" Id="R71da8c5b0c8249bd" /><Relationship Type="http://schemas.openxmlformats.org/officeDocument/2006/relationships/notesMaster" Target="/ppt/notesMasters/notesMaster1.xml" Id="Rb92fe46859ef4635" /><Relationship Type="http://schemas.openxmlformats.org/officeDocument/2006/relationships/presProps" Target="/ppt/presProps.xml" Id="Rcb42c0ee4f604d9c" /><Relationship Type="http://schemas.openxmlformats.org/officeDocument/2006/relationships/tableStyles" Target="/ppt/tableStyles.xml" Id="R595cb0647a964abf" /><Relationship Type="http://schemas.openxmlformats.org/officeDocument/2006/relationships/slide" Target="/ppt/slides/slide1.xml" Id="Re541306fb0e840c7" /><Relationship Type="http://schemas.openxmlformats.org/officeDocument/2006/relationships/slide" Target="/ppt/slides/slide2.xml" Id="Rc9102bfdb83249e4" /><Relationship Type="http://schemas.openxmlformats.org/officeDocument/2006/relationships/slide" Target="/ppt/slides/slide3.xml" Id="Rf9b14ff73c114123" /><Relationship Type="http://schemas.openxmlformats.org/officeDocument/2006/relationships/slide" Target="/ppt/slides/slide4.xml" Id="R4ce22cd5be1c4a76" /><Relationship Type="http://schemas.openxmlformats.org/officeDocument/2006/relationships/slide" Target="/ppt/slides/slide5.xml" Id="Rc4e4e802a8cf438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4766a275a8f459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a28ba762c7f4431" /><Relationship Type="http://schemas.openxmlformats.org/officeDocument/2006/relationships/notesMaster" Target="/ppt/notesMasters/notesMaster1.xml" Id="R4c552b45cc5c434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c02389c4b084105" /><Relationship Type="http://schemas.openxmlformats.org/officeDocument/2006/relationships/notesMaster" Target="/ppt/notesMasters/notesMaster1.xml" Id="R05ad799561f346c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3156141f84846db" /><Relationship Type="http://schemas.openxmlformats.org/officeDocument/2006/relationships/notesMaster" Target="/ppt/notesMasters/notesMaster1.xml" Id="R3ee5fd5d854f4d8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b3e4f703b6d49e5" /><Relationship Type="http://schemas.openxmlformats.org/officeDocument/2006/relationships/notesMaster" Target="/ppt/notesMasters/notesMaster1.xml" Id="R166a1ba7a21641b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32cc03163224d15" /><Relationship Type="http://schemas.openxmlformats.org/officeDocument/2006/relationships/notesMaster" Target="/ppt/notesMasters/notesMaster1.xml" Id="R5bf28395353d4d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这不是华为内部系统的复刻，而是我基于公开风格模拟数据完成的个人方法论复现。项目目标是验证多工具 Agent 在软件资产查询、依赖分析、版本比较和研发文档检索中的完整闭环。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README: README.md</a:t>
            </a:r>
          </a:p>
          <a:p xmlns:a="http://schemas.openxmlformats.org/drawingml/2006/main">
            <a:r>
              <a:t>- Local compliance audit: docs/public-release-audit.md</a:t>
            </a:r>
          </a:p>
          <a:p xmlns:a="http://schemas.openxmlformats.org/drawingml/2006/main">
            <a:r>
              <a:t>- Current CI evidence: https://github.com/Isoldelu/software-engineering-agent/actions/runs/33354020784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核心区别是先规划、再调用工具、再收集 Evidence，最后由确定性 Verifier 判断是否满足任务。Trace 同时进入评测和受控优化环路，候选策略只能经过 Shadow、全量回归和人工审核后发布，并支持灰度与回滚。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architecture: docs/architecture-v2.md</a:t>
            </a:r>
          </a:p>
          <a:p xmlns:a="http://schemas.openxmlformats.org/drawingml/2006/main">
            <a:r>
              <a:t>- Evidence and citation contract: docs/evidence-citation.md</a:t>
            </a:r>
          </a:p>
          <a:p xmlns:a="http://schemas.openxmlformats.org/drawingml/2006/main">
            <a:r>
              <a:t>- Controlled evolution: docs/offline-controlled-evolution.md</a:t>
            </a:r>
          </a:p>
          <a:p xmlns:a="http://schemas.openxmlformats.org/drawingml/2006/main">
            <a:r>
              <a:t>- Policy rollout: docs/policy-rollout.md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现场只演示一个复合 Query。Planner 没有靠单个关键词直接结束，而是组合 Package、Dependency、Version 三个工具。每个工具输出都被标准化成 Evidence 和 Citation，Verifier 通过，Trace 完整可回放。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browser screenshot: docs/assets/agent-demo.png</a:t>
            </a:r>
          </a:p>
          <a:p xmlns:a="http://schemas.openxmlformats.org/drawingml/2006/main">
            <a:r>
              <a:t>- Executable demo: examples/interview_demo.py</a:t>
            </a:r>
          </a:p>
          <a:p xmlns:a="http://schemas.openxmlformats.org/drawingml/2006/main">
            <a:r>
              <a:t>- Demo runbook: docs/demo-runbook.md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评测分为任务成功率、工具路由准确率、答案正确性和调用效率。早期关键词 Router 在挑战集上只有 61.76%，加入别名、工具描述、Planner 和 Bad-case 回归后达到冻结集 100%。这里的 DirectLLMProxy 与 RAGOnlyProxy 是离线可复现基线，不冒充真实商业模型。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evaluation dashboard screenshot: docs/assets/evaluation-dashboard.png</a:t>
            </a:r>
          </a:p>
          <a:p xmlns:a="http://schemas.openxmlformats.org/drawingml/2006/main">
            <a:r>
              <a:t>- Experiment results: docs/experiment_results.md</a:t>
            </a:r>
          </a:p>
          <a:p xmlns:a="http://schemas.openxmlformats.org/drawingml/2006/main">
            <a:r>
              <a:t>- Current project summary: docs/project_summary.md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最后用工程证据和诚实边界收口。当前 CI 已覆盖测试、Docker 和真实 PostgreSQL 多 Worker 路径；受控自进化不会自动修改源码或直接上线。还没有做的是付费真实 Provider A/B，这应作为预算明确后的独立实验，而不是阻塞现有项目交付。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 Actions Run: https://github.com/Isoldelu/software-engineering-agent/actions/runs/33354020784</a:t>
            </a:r>
          </a:p>
          <a:p xmlns:a="http://schemas.openxmlformats.org/drawingml/2006/main">
            <a:r>
              <a:t>- Operational evidence: docs/step28-observability-disaster-recovery.md</a:t>
            </a:r>
          </a:p>
          <a:p xmlns:a="http://schemas.openxmlformats.org/drawingml/2006/main">
            <a:r>
              <a:t>- Public repository: https://github.com/Isoldelu/software-engineering-agent</a:t>
            </a:r>
          </a:p>
          <a:p xmlns:a="http://schemas.openxmlformats.org/drawingml/2006/main">
            <a:r>
              <a:t>- Project boundaries: docs/project-showcase.md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386c62faa3494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788d19d23ff40e5" /><Relationship Type="http://schemas.openxmlformats.org/officeDocument/2006/relationships/slideLayout" Target="/ppt/slideLayouts/slideLayout1.xml" Id="Ra5aed6970a5046c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5aed6970a5046c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108d364b2e4cba" /><Relationship Type="http://schemas.openxmlformats.org/officeDocument/2006/relationships/notesSlide" Target="/ppt/notesSlides/notesSlide1.xml" Id="Rabe4d95504a14f4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b4f505cd054737" /><Relationship Type="http://schemas.openxmlformats.org/officeDocument/2006/relationships/notesSlide" Target="/ppt/notesSlides/notesSlide2.xml" Id="Rb3d6faf3642d4e9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1d34ac29104b21" /><Relationship Type="http://schemas.openxmlformats.org/officeDocument/2006/relationships/image" Target="/ppt/media/image.png" Id="R51cbd36ea3f34d7f" /><Relationship Type="http://schemas.openxmlformats.org/officeDocument/2006/relationships/notesSlide" Target="/ppt/notesSlides/notesSlide3.xml" Id="R2154e77e16ef472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fcdff008e04b28" /><Relationship Type="http://schemas.openxmlformats.org/officeDocument/2006/relationships/image" Target="/ppt/media/image2.png" Id="Rf9c9bf18d40941f4" /><Relationship Type="http://schemas.openxmlformats.org/officeDocument/2006/relationships/notesSlide" Target="/ppt/notesSlides/notesSlide4.xml" Id="R87568c96ac7541d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d67e05357f42ed" /><Relationship Type="http://schemas.openxmlformats.org/officeDocument/2006/relationships/notesSlide" Target="/ppt/notesSlides/notesSlide5.xml" Id="R6849423c9e9742d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43AA7A-C4E8-44AD-8C80-413B4D8A7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75"/>
          </a:solidFill>
          <a:ln xmlns:a="http://schemas.openxmlformats.org/drawingml/2006/main" w="0">
            <a:solidFill>
              <a:srgbClr val="0B7A7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9F33B7-B530-4C24-9EA2-2294E5F4F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AI4SE · INTERVIEW DECK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5536A0-CB38-4769-8115-538E22754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524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2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Software</a:t>
            </a:r>
          </a:p>
          <a:p xmlns:a="http://schemas.openxmlformats.org/drawingml/2006/main">
            <a:pPr algn="l">
              <a:defRPr sz="52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2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Engineering Agent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2F8C68-E3A6-414F-83DA-D2CB2406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33800"/>
            <a:ext cx="762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面向软件研发场景的多工具检索、分析与受控优化系统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376669-2C59-4782-9F25-9729CD7FA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685800"/>
            <a:ext cx="306705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0">
            <a:solidFill>
              <a:srgbClr val="17212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927E2D-BB6D-4FB8-801E-A0044649F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123950"/>
            <a:ext cx="2362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638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FC1B95-3B87-48C5-98D6-4256AF8A1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19300"/>
            <a:ext cx="2286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rPr>
              <a:t>Tools</a:t>
            </a:r>
          </a:p>
          <a:p xmlns:a="http://schemas.openxmlformats.org/drawingml/2006/main">
            <a:pPr algn="l">
              <a:def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  <a:p xmlns:a="http://schemas.openxmlformats.org/drawingml/2006/main">
            <a:pPr algn="l">
              <a:def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rPr>
              <a:t>Verifier</a:t>
            </a:r>
          </a:p>
          <a:p xmlns:a="http://schemas.openxmlformats.org/drawingml/2006/main">
            <a:pPr algn="l">
              <a:def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rPr>
              <a:t>Trace</a:t>
            </a:r>
          </a:p>
          <a:p xmlns:a="http://schemas.openxmlformats.org/drawingml/2006/main">
            <a:pPr algn="l">
              <a:def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B9DCD8"/>
                </a:solidFill>
                <a:latin typeface="Microsoft YaHei"/>
                <a:ea typeface="Microsoft YaHei"/>
                <a:cs typeface="Microsoft YaHei"/>
              </a:rPr>
              <a:t>Evaluation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66441C-FED5-4E91-AD54-335B4D13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7334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644898-68E0-4F47-BCDD-CFC89821C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1104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150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2C126C-5E82-4BA8-8341-214E4950A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5310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tests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E685AE-5AE2-4F6F-958B-49F8F167B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219700"/>
            <a:ext cx="1104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rPr>
              <a:t>193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8C03FB-17E3-435F-88AF-E95F40B8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7531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frozen cases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83CF3E-16F1-4F5F-B438-D0BD3292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5219700"/>
            <a:ext cx="1104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C92971-993E-4CB4-B92B-821B57130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57531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paid API calls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121691-488C-411D-A81B-6F48BD1C4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91275"/>
            <a:ext cx="571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公开模拟数据 · 个人方法论复现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857B25-246C-4587-9C80-0849507D8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436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882392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DB7E21E-AA61-4291-AD89-5D68C450A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它不是普通 RAG，而是一条可验证的 Agent 执行链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18D2B1-AD82-47D3-A8FC-E45DD55E4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96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2C4C03-B96B-48F1-8400-4ABE9588A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436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C6DC45-A8AC-423B-AA68-C515F303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952625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06B7CB-6260-4EFD-B87E-E65AA7BCD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52625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E3BC0B-6FBD-407C-9E7D-F165C8182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952625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CB67A1-B820-44C4-BF15-341A6B4F0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952625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6012ED-42FB-4991-858C-2EEB13E58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81150"/>
            <a:ext cx="18859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E8ECE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78BABD-8E6E-416E-80E3-6DBA9D6BD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434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Query + 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5746FE-389A-462C-A8FE-2725716E6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24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多轮实体解析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490ADC-6832-467B-82FC-8E43A8EFD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581150"/>
            <a:ext cx="18859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EB"/>
          </a:solidFill>
          <a:ln xmlns:a="http://schemas.openxmlformats.org/drawingml/2006/main" w="19050">
            <a:solidFill>
              <a:srgbClr val="0B7A7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4E546B-56EB-45DC-8963-85DA08B07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90700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043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Planner + Router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1722F1-27C9-42BE-ABE9-7249A9A8A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24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单工具 / Hybrid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60475A-EC11-44F1-8502-7158E5CF0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581150"/>
            <a:ext cx="18859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FFB"/>
          </a:solidFill>
          <a:ln xmlns:a="http://schemas.openxmlformats.org/drawingml/2006/main" w="9525">
            <a:solidFill>
              <a:srgbClr val="E8EC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E463A3-A34E-4E4D-B54D-1622490DD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790700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Tool Execution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195379-A5EB-4338-AF0F-8F7A127F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324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5 个领域工具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5E436B-867C-4D5D-947A-9BE37FD98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581150"/>
            <a:ext cx="18859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DD9"/>
          </a:solidFill>
          <a:ln xmlns:a="http://schemas.openxmlformats.org/drawingml/2006/main" w="9525">
            <a:solidFill>
              <a:srgbClr val="E8ECE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69583E-D3A9-45B5-9F9A-7CB191DA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790700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0007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Evidence + Verifier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DF3D19-5A66-4259-BD29-4F58C895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24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引用与部分成功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5844D5-9AF8-460A-A321-F7F34AF4A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581150"/>
            <a:ext cx="18859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E8EC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976874-5D44-42C3-A9E3-178268568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790700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434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Answer + Trace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EE49CB-C96C-4C68-91D3-148FE84BD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324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可回放执行轨迹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1AB121-BC61-4E21-BB98-4CD2F5E8E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知识与工具层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6CEB1E-4B83-48A8-9CC2-77AC61FA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505200"/>
            <a:ext cx="9391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82C6DE-A9BD-4707-BE11-991B060E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38600"/>
            <a:ext cx="3162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7A75"/>
          </a:solidFill>
          <a:ln xmlns:a="http://schemas.openxmlformats.org/drawingml/2006/main" w="0">
            <a:solidFill>
              <a:srgbClr val="0B7A7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255090-6597-4BE4-8210-43C4E270A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Structured Assets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F52740-CE49-4B7A-9D1B-ED7E92542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006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Package · Dependency</a:t>
            </a:r>
          </a:p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Version · Component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6535CC-23F2-48A6-8EA3-C1B35E03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38600"/>
            <a:ext cx="3162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3D4"/>
          </a:solidFill>
          <a:ln xmlns:a="http://schemas.openxmlformats.org/drawingml/2006/main" w="0">
            <a:solidFill>
              <a:srgbClr val="3973D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2AE9B4-F35B-4D5C-A092-D2627D05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3053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Hybrid RAG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5663DB-3948-4600-A12A-F61ACBE39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006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Legacy + BM25 + RRF</a:t>
            </a:r>
          </a:p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Reranker + No-answer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D29BD14-F80B-4023-AC54-3654F7CC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38600"/>
            <a:ext cx="3162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8422"/>
          </a:solidFill>
          <a:ln xmlns:a="http://schemas.openxmlformats.org/drawingml/2006/main" w="0">
            <a:solidFill>
              <a:srgbClr val="C8842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0F0898E-6108-41FC-8CDF-D0D54857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053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Control Plane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7F8395D-CD95-429C-9B01-0CBCD6AD2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006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Policy · Feedback · Audit</a:t>
            </a:r>
          </a:p>
          <a:p xmlns:a="http://schemas.openxmlformats.org/drawingml/2006/main">
            <a:pPr algn="l">
              <a:def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PostgreSQL · Metrics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9A583A-0333-48DD-928B-71C8CAA62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0"/>
            <a:ext cx="1076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Trace → Evaluation → Bad-case Mining → Shadow Candidate → Human Review → Rollout / Rollback</a:t>
            </a:r>
          </a:p>
        </p:txBody>
      </p:sp>
    </p:spTree>
    <p:extLst>
      <p:ext uri="{BB962C8B-B14F-4D97-AF65-F5344CB8AC3E}">
        <p14:creationId xmlns:p14="http://schemas.microsoft.com/office/powerpoint/2010/main" val="5063774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DB83B9-2903-445D-9211-BECEFF4B4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一个复合问题触发 3 个工具，并返回可追溯事实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0260FD-DC05-46CF-9872-1CD8BD522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96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0AA676-B122-4BCF-9A8D-75EE99EBD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436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9837D6-0B56-4CA6-B605-865380BF3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“查一下 nginx 的版本变化和依赖”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B2FFC4-0882-4966-B743-113267CB8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72390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E8ECEF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cbd36ea3f34d7f"/>
          <a:stretch xmlns:a="http://schemas.openxmlformats.org/drawingml/2006/main"/>
        </p:blipFill>
        <p:spPr>
          <a:xfrm xmlns:a="http://schemas.openxmlformats.org/drawingml/2006/main">
            <a:off x="1039368" y="1771650"/>
            <a:ext cx="6227064" cy="43243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02D241-403F-4B4F-99FC-E1FA3DA8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714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PLAN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575FEA-0D23-4E84-96AC-40D07467C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764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Package Search</a:t>
            </a:r>
          </a:p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Dependency Analysis</a:t>
            </a:r>
          </a:p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Version Compare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A2EE33-9EBA-48F3-B8AF-CD0F30DD7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448050"/>
            <a:ext cx="314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6797BF-A5FA-44D4-BE96-C62637786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73380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386A56-72E8-4786-9C75-CE31007BB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8862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5C51CD-0C1A-4F10-8141-804E1E3DA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4386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EC3617-A663-4410-A707-69F1058D9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5910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Citations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6B9001-C94F-4C08-B204-BAB737889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43500"/>
            <a:ext cx="1162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117B6E-C098-4939-A4D8-258AD7DAC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6197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Verifier + Trace</a:t>
            </a:r>
          </a:p>
        </p:txBody>
      </p:sp>
    </p:spTree>
    <p:extLst>
      <p:ext uri="{BB962C8B-B14F-4D97-AF65-F5344CB8AC3E}">
        <p14:creationId xmlns:p14="http://schemas.microsoft.com/office/powerpoint/2010/main" val="6957302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E69356-7951-4928-884A-037A0498A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评测让优化可量化，也暴露了离线结果的边界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10B661-4B6F-4002-A0EB-92B619EE4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96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50FC39-29F2-4256-A8AB-6D93FB5B2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436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F28A86-451C-4F63-BAD7-16280BE0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B447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B4473D"/>
                </a:solidFill>
                <a:latin typeface="Microsoft YaHei"/>
                <a:ea typeface="Microsoft YaHei"/>
                <a:cs typeface="Microsoft YaHei"/>
              </a:rPr>
              <a:t>22.94%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A4CA24-0DEC-43F6-B3BB-3E5B6B82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716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DirectLLMProxy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86CD93-FADC-40B1-B628-70AFFBBB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3906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rPr>
              <a:t>57.06%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3C0EFE-1629-4302-99BB-130E74D6D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716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RAGOnlyProxy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6AC711-6A13-4713-99A0-A42B45B8B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3906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D07605-27E4-4D12-A7C0-73BA92CAE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9716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DE2F5C-130E-4123-B173-461E63889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90800"/>
            <a:ext cx="6715125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E8ECEF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c9bf18d40941f4"/>
          <a:stretch xmlns:a="http://schemas.openxmlformats.org/drawingml/2006/main"/>
        </p:blipFill>
        <p:spPr>
          <a:xfrm xmlns:a="http://schemas.openxmlformats.org/drawingml/2006/main">
            <a:off x="1463231" y="2667000"/>
            <a:ext cx="4855464" cy="337185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9BE811-EDD4-40AE-B49C-ACD2AA177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4287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Router 优化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0F3037-81F8-4C33-9112-6F66E5693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90500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61.76%  →  100%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03CDAC-FC49-403A-BD8E-B0C8AA107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724150"/>
            <a:ext cx="3238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alias mapping</a:t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tool description</a:t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hybrid planner</a:t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bad-case regression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176BD1-EEAE-4ADD-9330-3CDA2621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438650"/>
            <a:ext cx="342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49BEBF-E0AA-4B08-A71E-651E5DD4E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7244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rPr>
              <a:t>193 / 193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5FCA15-E280-44A1-86AF-ED555464F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2578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冻结评测通过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6D6A2C-0E90-4698-8E09-90DE09D47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7721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73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rPr>
              <a:t>离线 Proxy 与模拟数据，不等同于真实模型 A/B</a:t>
            </a:r>
          </a:p>
        </p:txBody>
      </p:sp>
    </p:spTree>
    <p:extLst>
      <p:ext uri="{BB962C8B-B14F-4D97-AF65-F5344CB8AC3E}">
        <p14:creationId xmlns:p14="http://schemas.microsoft.com/office/powerpoint/2010/main" val="123003775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CAD704-F232-4767-AAB5-80EA5B6EF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601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完整工程闭环已验证，真实 Provider A/B 是下一项独立实验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2E5BF9-5EC8-4693-8EE4-DA04652EA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96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EF"/>
          </a:solidFill>
          <a:ln xmlns:a="http://schemas.openxmlformats.org/drawingml/2006/main" w="0">
            <a:solidFill>
              <a:srgbClr val="E8ECE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849A3D-974E-41B6-B977-D987049FA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436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CB84AB-6EFC-4FB8-A8CD-D87087189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工程证据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8600AA-0652-40DE-8B91-13F454938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383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59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150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BAA303-10A2-4590-94CC-266797FC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479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tests passed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7AC1C7-EF4E-4DB3-BBE0-2935A9164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1945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rPr>
              <a:t>100/100 + 40/40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731984-8FDC-41D3-B131-9E2ED321C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33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PostgreSQL load / recovery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88BBED-43C0-4744-BDE9-1AFAAEDB7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142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rPr>
              <a:t>6/6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B1A132-DFF4-4829-9D7D-9ED1D1F4C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387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fault gates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469990-D1D9-4FAC-AF50-3344CDB8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390650"/>
            <a:ext cx="1905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78BD90-E515-4C29-93AD-2F4A58064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4097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受控边界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AC80D3-F732-43BF-A5FE-C6ACE9C5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076450"/>
            <a:ext cx="302895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公开风格模拟数据</a:t>
            </a:r>
          </a:p>
          <a:p xmlns:a="http://schemas.openxmlformats.org/drawingml/2006/main">
            <a:pPr algn="l">
              <a:def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不复制企业内部资产</a:t>
            </a:r>
          </a:p>
          <a:p xmlns:a="http://schemas.openxmlformats.org/drawingml/2006/main">
            <a:pPr algn="l">
              <a:def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候选策略默认 inactive</a:t>
            </a:r>
          </a:p>
          <a:p xmlns:a="http://schemas.openxmlformats.org/drawingml/2006/main">
            <a:pPr algn="l">
              <a:def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Shadow + 人审 + Reviewed Bridge</a:t>
            </a:r>
          </a:p>
          <a:p xmlns:a="http://schemas.openxmlformats.org/drawingml/2006/main">
            <a:pPr algn="l">
              <a:def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灰度发布与自动回滚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067650-A533-4181-A64A-B1835473A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62500"/>
            <a:ext cx="28956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DD9"/>
          </a:solidFill>
          <a:ln xmlns:a="http://schemas.openxmlformats.org/drawingml/2006/main" w="0">
            <a:solidFill>
              <a:srgbClr val="F9EDD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28B59A-CEE3-471B-A537-733DA9BE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876800"/>
            <a:ext cx="257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rPr>
              <a:t>真实 Provider A/B</a:t>
            </a:r>
          </a:p>
          <a:p xmlns:a="http://schemas.openxmlformats.org/drawingml/2006/main">
            <a:pPr algn="ctr">
              <a:defRPr sz="1575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C88422"/>
                </a:solidFill>
                <a:latin typeface="Microsoft YaHei"/>
                <a:ea typeface="Microsoft YaHei"/>
                <a:cs typeface="Microsoft YaHei"/>
              </a:rPr>
              <a:t>尚未执行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78F131-9363-4A9E-B16B-B50DE9178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390650"/>
            <a:ext cx="1905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BBDB84-377A-4D08-886E-A2CF52EB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4097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12B"/>
                </a:solidFill>
                <a:latin typeface="Microsoft YaHei"/>
                <a:ea typeface="Microsoft YaHei"/>
                <a:cs typeface="Microsoft YaHei"/>
              </a:rPr>
              <a:t>可直接验收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B7D56C-47A4-4CC1-A166-A2F24BB9F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1145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47A4A"/>
                </a:solidFill>
                <a:latin typeface="Microsoft YaHei"/>
                <a:ea typeface="Microsoft YaHei"/>
                <a:cs typeface="Microsoft YaHei"/>
              </a:rPr>
              <a:t>GitHub Actions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085697-74DD-4F2A-A245-5B601658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5527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Tests · Docker · PostgreSQL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821062-E583-47AE-A67C-C11A3DCF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Run 33354020784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EF5B1B-9226-4BC9-9D0A-EF2B8E37F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905250"/>
            <a:ext cx="29908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rPr>
              <a:t>github.com/Isoldelu/</a:t>
            </a:r>
          </a:p>
          <a:p xmlns:a="http://schemas.openxmlformats.org/drawingml/2006/main">
            <a:pPr algn="l">
              <a:defRPr sz="150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3973D4"/>
                </a:solidFill>
                <a:latin typeface="Microsoft YaHei"/>
                <a:ea typeface="Microsoft YaHei"/>
                <a:cs typeface="Microsoft YaHei"/>
              </a:rPr>
              <a:t>software-engineering-agent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5686AE-D18D-45E1-BA8A-AE0EA84A9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048250"/>
            <a:ext cx="3105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下一步：小预算 Provider A/B</a:t>
            </a:r>
          </a:p>
          <a:p xmlns:a="http://schemas.openxmlformats.org/drawingml/2006/main">
            <a:pPr algn="l">
              <a:def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6"/>
                </a:solidFill>
                <a:latin typeface="Microsoft YaHei"/>
                <a:ea typeface="Microsoft YaHei"/>
                <a:cs typeface="Microsoft YaHei"/>
              </a:rPr>
              <a:t>固定 12 条代表性 Query，显式记录成本与失败回退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B7312E-4E31-4708-9674-B8634F3D1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388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B7A75"/>
                </a:solidFill>
                <a:latin typeface="Microsoft YaHei"/>
                <a:ea typeface="Microsoft YaHei"/>
                <a:cs typeface="Microsoft YaHei"/>
              </a:rPr>
              <a:t>结论：这是一个有工具、有证据、有评测、可部署、可回滚的 AI4SE Agent。</a:t>
            </a:r>
          </a:p>
        </p:txBody>
      </p:sp>
    </p:spTree>
    <p:extLst>
      <p:ext uri="{BB962C8B-B14F-4D97-AF65-F5344CB8AC3E}">
        <p14:creationId xmlns:p14="http://schemas.microsoft.com/office/powerpoint/2010/main" val="6218177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2026-08-31T03:39:37.3720000Z</dcterms:created>
  <dcterms:modified xsi:type="dcterms:W3CDTF">2026-08-31T03:39:37.3720000Z</dcterms:modified>
</coreProperties>
</file>