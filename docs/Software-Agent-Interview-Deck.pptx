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6f54bf6cdb4ee5" /><Relationship Type="http://schemas.openxmlformats.org/officeDocument/2006/relationships/extended-properties" Target="/docProps/app.xml" Id="R0ef610c0a33f438b" /><Relationship Type="http://schemas.openxmlformats.org/officeDocument/2006/relationships/officeDocument" Target="/ppt/presentation.xml" Id="R25ca5e8d9ede4a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bae787551b4589"/>
  </p:sldMasterIdLst>
  <p:notesMasterIdLst>
    <p:notesMasterId xmlns:r="http://schemas.openxmlformats.org/officeDocument/2006/relationships" r:id="Rdc2cf8b19b0d4794"/>
  </p:notesMasterIdLst>
  <p:sldIdLst>
    <p:sldId xmlns:r="http://schemas.openxmlformats.org/officeDocument/2006/relationships" id="256" r:id="Rbe352be3e2954a6d"/>
    <p:sldId xmlns:r="http://schemas.openxmlformats.org/officeDocument/2006/relationships" id="257" r:id="R7d82d47b9f7a4118"/>
    <p:sldId xmlns:r="http://schemas.openxmlformats.org/officeDocument/2006/relationships" id="258" r:id="Rf1fcd361f1564568"/>
    <p:sldId xmlns:r="http://schemas.openxmlformats.org/officeDocument/2006/relationships" id="259" r:id="Rc0250546cc444782"/>
    <p:sldId xmlns:r="http://schemas.openxmlformats.org/officeDocument/2006/relationships" id="260" r:id="R21471e95cf9b4b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66a3d68412424d" /><Relationship Type="http://schemas.openxmlformats.org/officeDocument/2006/relationships/slideMaster" Target="/ppt/slideMasters/slideMaster1.xml" Id="Rbabae787551b4589" /><Relationship Type="http://schemas.openxmlformats.org/officeDocument/2006/relationships/notesMaster" Target="/ppt/notesMasters/notesMaster1.xml" Id="Rdc2cf8b19b0d4794" /><Relationship Type="http://schemas.openxmlformats.org/officeDocument/2006/relationships/presProps" Target="/ppt/presProps.xml" Id="Rab33fb5162ee4f6f" /><Relationship Type="http://schemas.openxmlformats.org/officeDocument/2006/relationships/tableStyles" Target="/ppt/tableStyles.xml" Id="R90f4efff924349b2" /><Relationship Type="http://schemas.openxmlformats.org/officeDocument/2006/relationships/slide" Target="/ppt/slides/slide1.xml" Id="Rbe352be3e2954a6d" /><Relationship Type="http://schemas.openxmlformats.org/officeDocument/2006/relationships/slide" Target="/ppt/slides/slide2.xml" Id="R7d82d47b9f7a4118" /><Relationship Type="http://schemas.openxmlformats.org/officeDocument/2006/relationships/slide" Target="/ppt/slides/slide3.xml" Id="Rf1fcd361f1564568" /><Relationship Type="http://schemas.openxmlformats.org/officeDocument/2006/relationships/slide" Target="/ppt/slides/slide4.xml" Id="Rc0250546cc444782" /><Relationship Type="http://schemas.openxmlformats.org/officeDocument/2006/relationships/slide" Target="/ppt/slides/slide5.xml" Id="R21471e95cf9b4b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59802551a64f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e8be6bb13e4683" /><Relationship Type="http://schemas.openxmlformats.org/officeDocument/2006/relationships/notesMaster" Target="/ppt/notesMasters/notesMaster1.xml" Id="R5231067ff3c647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1d09a7b64c40e2" /><Relationship Type="http://schemas.openxmlformats.org/officeDocument/2006/relationships/notesMaster" Target="/ppt/notesMasters/notesMaster1.xml" Id="R4a97f1a1c1c240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6c798a766240ef" /><Relationship Type="http://schemas.openxmlformats.org/officeDocument/2006/relationships/notesMaster" Target="/ppt/notesMasters/notesMaster1.xml" Id="R9c712580a7424b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e8c19d8d984a93" /><Relationship Type="http://schemas.openxmlformats.org/officeDocument/2006/relationships/notesMaster" Target="/ppt/notesMasters/notesMaster1.xml" Id="R25075be3de8044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9963332f984f6a" /><Relationship Type="http://schemas.openxmlformats.org/officeDocument/2006/relationships/notesMaster" Target="/ppt/notesMasters/notesMaster1.xml" Id="R99392a11e8504d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这不是华为内部系统的复刻，而是我基于公开风格模拟数据完成的个人方法论复现。项目目标是验证多工具 Agent 在软件资产查询、依赖分析、版本比较和研发文档检索中的完整闭环。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README: README.md</a:t>
            </a:r>
          </a:p>
          <a:p xmlns:a="http://schemas.openxmlformats.org/drawingml/2006/main">
            <a:r>
              <a:t>- Local compliance audit: docs/public-release-audit.md</a:t>
            </a:r>
          </a:p>
          <a:p xmlns:a="http://schemas.openxmlformats.org/drawingml/2006/main">
            <a:r>
              <a:t>- Current CI evidence: https://github.com/Isoldelu/software-engineering-agent/actions/runs/33309988987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核心区别是先规划、再调用工具、再收集 Evidence，最后由确定性 Verifier 判断是否满足任务。Trace 同时进入评测和受控优化环路，候选策略只能经过 Shadow、全量回归和人工审核后发布，并支持灰度与回滚。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architecture: docs/architecture-v2.md</a:t>
            </a:r>
          </a:p>
          <a:p xmlns:a="http://schemas.openxmlformats.org/drawingml/2006/main">
            <a:r>
              <a:t>- Evidence and citation contract: docs/evidence-citation.md</a:t>
            </a:r>
          </a:p>
          <a:p xmlns:a="http://schemas.openxmlformats.org/drawingml/2006/main">
            <a:r>
              <a:t>- Controlled evolution: docs/offline-controlled-evolution.md</a:t>
            </a:r>
          </a:p>
          <a:p xmlns:a="http://schemas.openxmlformats.org/drawingml/2006/main">
            <a:r>
              <a:t>- Policy rollout: docs/policy-rollout.md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现场只演示一个复合 Query。Planner 没有靠单个关键词直接结束，而是组合 Package、Dependency、Version 三个工具。每个工具输出都被标准化成 Evidence 和 Citation，Verifier 通过，Trace 完整可回放。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browser screenshot: docs/assets/agent-demo.png</a:t>
            </a:r>
          </a:p>
          <a:p xmlns:a="http://schemas.openxmlformats.org/drawingml/2006/main">
            <a:r>
              <a:t>- Executable demo: examples/interview_demo.py</a:t>
            </a:r>
          </a:p>
          <a:p xmlns:a="http://schemas.openxmlformats.org/drawingml/2006/main">
            <a:r>
              <a:t>- Demo runbook: docs/demo-runbook.md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评测分为任务成功率、工具路由准确率、答案正确性和调用效率。早期关键词 Router 在挑战集上只有 61.76%，加入别名、工具描述、Planner 和 Bad-case 回归后达到冻结集 100%。这里的 DirectLLMProxy 与 RAGOnlyProxy 是离线可复现基线，不冒充真实商业模型。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evaluation dashboard screenshot: docs/assets/evaluation-dashboard.png</a:t>
            </a:r>
          </a:p>
          <a:p xmlns:a="http://schemas.openxmlformats.org/drawingml/2006/main">
            <a:r>
              <a:t>- Experiment results: docs/experiment_results.md</a:t>
            </a:r>
          </a:p>
          <a:p xmlns:a="http://schemas.openxmlformats.org/drawingml/2006/main">
            <a:r>
              <a:t>- Current project summary: docs/project_summary.md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最后用工程证据和诚实边界收口。当前 CI 已覆盖测试、Docker 和真实 PostgreSQL 多 Worker 路径；受控自进化不会自动修改源码或直接上线。还没有做的是付费真实 Provider A/B，这应作为预算明确后的独立实验，而不是阻塞现有项目交付。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Actions Run: https://github.com/Isoldelu/software-engineering-agent/actions/runs/33309988987</a:t>
            </a:r>
          </a:p>
          <a:p xmlns:a="http://schemas.openxmlformats.org/drawingml/2006/main">
            <a:r>
              <a:t>- Operational evidence: docs/step28-observability-disaster-recovery.md</a:t>
            </a:r>
          </a:p>
          <a:p xmlns:a="http://schemas.openxmlformats.org/drawingml/2006/main">
            <a:r>
              <a:t>- Public repository: https://github.com/Isoldelu/software-engineering-agent</a:t>
            </a:r>
          </a:p>
          <a:p xmlns:a="http://schemas.openxmlformats.org/drawingml/2006/main">
            <a:r>
              <a:t>- Project boundaries: docs/project-showcase.md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175cf587304d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88561237274f06" /><Relationship Type="http://schemas.openxmlformats.org/officeDocument/2006/relationships/slideLayout" Target="/ppt/slideLayouts/slideLayout1.xml" Id="Re030b388e74944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30b388e74944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c34171bb54651" /><Relationship Type="http://schemas.openxmlformats.org/officeDocument/2006/relationships/notesSlide" Target="/ppt/notesSlides/notesSlide1.xml" Id="Rd914c44c2d2d43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8da83c7f94534" /><Relationship Type="http://schemas.openxmlformats.org/officeDocument/2006/relationships/notesSlide" Target="/ppt/notesSlides/notesSlide2.xml" Id="Rf9250d0c6a8d4f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87e9c05f540cf" /><Relationship Type="http://schemas.openxmlformats.org/officeDocument/2006/relationships/image" Target="/ppt/media/image.png" Id="R47209350ce044ad2" /><Relationship Type="http://schemas.openxmlformats.org/officeDocument/2006/relationships/notesSlide" Target="/ppt/notesSlides/notesSlide3.xml" Id="Rcec92f30d52e45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4c95b635b492d" /><Relationship Type="http://schemas.openxmlformats.org/officeDocument/2006/relationships/image" Target="/ppt/media/image2.png" Id="R2a22a3093ea3427a" /><Relationship Type="http://schemas.openxmlformats.org/officeDocument/2006/relationships/notesSlide" Target="/ppt/notesSlides/notesSlide4.xml" Id="R07f358f9111e4e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03cf0bed347dd" /><Relationship Type="http://schemas.openxmlformats.org/officeDocument/2006/relationships/notesSlide" Target="/ppt/notesSlides/notesSlide5.xml" Id="R38c813ec8f224a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A3193D-D846-4D01-A781-C9B6600E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  <a:ln xmlns:a="http://schemas.openxmlformats.org/drawingml/2006/main" w="0">
            <a:solidFill>
              <a:srgbClr val="0B7A7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6CFAF-7C6F-48AB-9FE9-36B3F48D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AI4SE · INTERVIEW DECK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BC67F4-587B-4849-B08E-CED0AB73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524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Software</a:t>
            </a:r>
          </a:p>
          <a:p xmlns:a="http://schemas.openxmlformats.org/drawingml/2006/main">
            <a:pPr algn="l">
              <a:def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Engineering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8DBD0-DEB4-4166-AC25-9795444E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面向软件研发场景的多工具检索、分析与受控优化系统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04E98-CD99-4F33-9151-2FD59AF3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685800"/>
            <a:ext cx="306705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7672AB-205B-4D19-8CDC-AE5AEE73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23950"/>
            <a:ext cx="2362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38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556291-2960-4F79-AE12-C83B6CBB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19300"/>
            <a:ext cx="2286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Tools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Verifier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Evaluation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BA6921-F3AD-4B84-8E32-029FF561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733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F0C37D-4918-47B8-9BA5-5D709AC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131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BFE822-13DB-4B4B-B9E8-DB1CFF38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53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F60E0-9476-4796-8283-548EEA6A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193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E0BC5-5BAD-4F86-B0A2-F9DA8C5F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7531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frozen cases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563C8-396D-4B35-AFF7-60796D1D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5ECDBB-7E54-4AF5-992C-03F34743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75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paid API calls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85ADD5-9435-4E57-BB86-12E7D363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公开模拟数据 · 个人方法论复现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162C44-B70A-456C-9EC0-7B5AD2FD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979653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2CD96F-CB90-49CF-B595-096D0059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它不是普通 RAG，而是一条可验证的 Agent 执行链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005D4-B996-429A-A411-1C94880F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910B5-CCC0-474D-BBE7-044768DD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FF223-BBBB-43B0-8F18-061BC4C9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3ABFB-ECA3-4CB3-A23B-6ACEA54A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E25E3-F26D-4EFD-A70F-CBFB65EA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65073-E6AA-4585-8D8E-8DD58FD0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FD934-57F6-41DC-A6BE-961FB8B8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9A2ABD-9748-44B3-8327-212C91EE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4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Query +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E8945-1D38-4349-98CA-65B43DF7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多轮实体解析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1B259-83A6-482D-BCDC-D921B92F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B"/>
          </a:solidFill>
          <a:ln xmlns:a="http://schemas.openxmlformats.org/drawingml/2006/main" w="19050">
            <a:solidFill>
              <a:srgbClr val="0B7A7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DAC9C-36A7-4BFE-8859-CC0F21BA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043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Planner + 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8801CA-023F-45B4-B64E-5C37C983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单工具 / Hybrid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D126E-92B2-45C9-A55B-A48857E2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B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3BD1D9-47B8-4B77-816B-59BEC75D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Tool Execution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D4687-448C-461E-AE4D-21805C45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5 个领域工具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08DCB7-B2BA-474E-BEF9-BF8BA150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DD9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BEBD06-BEDA-4326-8FAF-C245047B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07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Evidence + Verifier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DBBFE9-C9F0-4A5E-B96A-228EFAE2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引用与部分成功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CA22A-FE2A-46CE-81AA-782A9617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6A4D0F-66BA-40C9-BA7F-162B4B1E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Answer + Trace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38FFFE-AB72-4029-BC73-AE9A7C38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可回放执行轨迹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07F76D-B726-4734-A145-D8C115EC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知识与工具层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B7C25D-E678-4573-9A72-1A6128CC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505200"/>
            <a:ext cx="9391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6C1116-A76F-45EB-B79C-0A8AA5CE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  <a:ln xmlns:a="http://schemas.openxmlformats.org/drawingml/2006/main" w="0">
            <a:solidFill>
              <a:srgbClr val="0B7A7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6669D9-CA80-4B72-B3FB-6C1DF71A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Structured Assets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60818E-69FD-49D6-981E-5AB08B01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Package · Dependency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Version · Component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E3BCDD-F3B2-4B07-80F3-FEA6E491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3D4"/>
          </a:solidFill>
          <a:ln xmlns:a="http://schemas.openxmlformats.org/drawingml/2006/main" w="0">
            <a:solidFill>
              <a:srgbClr val="3973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BF4829-C54C-49B0-AC85-592DEFAA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Hybrid RAG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3822FF-1596-47C9-AA69-E3C02349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Legacy + BM25 + RRF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Reranker + No-answer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262ABC-708F-47B7-BAD7-2D180790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8422"/>
          </a:solidFill>
          <a:ln xmlns:a="http://schemas.openxmlformats.org/drawingml/2006/main" w="0">
            <a:solidFill>
              <a:srgbClr val="C8842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452C5F-A7B1-48DE-B70F-8DBD3C90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Control Plane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6CEFBD-797A-4478-BC3D-F2CA0BD6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Policy · Feedback · Audit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PostgreSQL · Metrics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C0D1AF-3FAE-4A70-846E-F811B10F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Trace → Evaluation → Bad-case Mining → Shadow Candidate → Human Review → Rollout / Rollback</a:t>
            </a:r>
          </a:p>
        </p:txBody>
      </p:sp>
    </p:spTree>
    <p:extLst>
      <p:ext uri="{BB962C8B-B14F-4D97-AF65-F5344CB8AC3E}">
        <p14:creationId xmlns:p14="http://schemas.microsoft.com/office/powerpoint/2010/main" val="10120624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C586A0-369E-4FA4-A565-ACCA1365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一个复合问题触发 3 个工具，并返回可追溯事实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3A830-1EAE-4B55-A0E5-DA39A31D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7B642-BB51-418A-B8FB-493ADAE4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4956DB-4B8B-40AD-AAC7-EA9294C3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“查一下 nginx 的版本变化和依赖”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9B4F3-543E-4EDA-81C6-8D4EC294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72390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09350ce044ad2"/>
          <a:stretch xmlns:a="http://schemas.openxmlformats.org/drawingml/2006/main"/>
        </p:blipFill>
        <p:spPr>
          <a:xfrm xmlns:a="http://schemas.openxmlformats.org/drawingml/2006/main">
            <a:off x="1039368" y="1771650"/>
            <a:ext cx="6227064" cy="4324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66B764-D1E1-43FC-857E-0BB1DFCC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14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107E7-BBB1-4191-AA00-B6162BD1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76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Package Search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Dependency Analysis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Version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E92C86-ABF5-40FF-9B10-BAA8F66E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480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82DA5-D311-49CB-B22B-357D2BDB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3380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6244A-9107-40F7-A9A9-F7CE59D6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86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C3286-A39A-4EC0-9FEE-C704154A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38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851008-DED4-43B7-BC8F-247DF901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91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Citations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E7B39-A5E7-4FCC-9147-D776BFB9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43500"/>
            <a:ext cx="1162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AD096E-97EA-4690-957D-332CC0E3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19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Verifier + Trace</a:t>
            </a:r>
          </a:p>
        </p:txBody>
      </p:sp>
    </p:spTree>
    <p:extLst>
      <p:ext uri="{BB962C8B-B14F-4D97-AF65-F5344CB8AC3E}">
        <p14:creationId xmlns:p14="http://schemas.microsoft.com/office/powerpoint/2010/main" val="5046979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E0F7B-4268-49F8-97FB-7F6E32AA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评测让优化可量化，也暴露了离线结果的边界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832B4D-4FD6-4D76-A519-352D3E83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30B95D-FF3A-43A7-B486-60742CE8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9906D-60E1-4410-B535-97FED364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4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4473D"/>
                </a:solidFill>
                <a:latin typeface="Microsoft YaHei"/>
                <a:ea typeface="Microsoft YaHei"/>
                <a:cs typeface="Microsoft YaHei"/>
              </a:rPr>
              <a:t>22.94%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595859-CE87-4E02-A1EC-6FEA48EE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DirectLLMProxy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60DDA-DFED-49C1-8600-F572573D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57.06%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56778-C7B1-40C2-B565-341D6C9D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RAGOnlyProxy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1447A-6972-4816-B0E4-2735C9E4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93C0D9-5688-4766-ABCE-767CAC29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69479-0DC6-4896-BD20-67A89D66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67151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2a3093ea3427a"/>
          <a:stretch xmlns:a="http://schemas.openxmlformats.org/drawingml/2006/main"/>
        </p:blipFill>
        <p:spPr>
          <a:xfrm xmlns:a="http://schemas.openxmlformats.org/drawingml/2006/main">
            <a:off x="1463231" y="2667000"/>
            <a:ext cx="4855464" cy="33718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76C85-32ED-4852-AADB-2CB8B7C2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428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Router 优化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10359-FFAF-4F33-920D-B04A62F5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050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61.76%  → 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A1D0D8-D4E3-48E9-BC98-E1892E83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alias mapping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tool description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hybrid planner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bad-case regression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1F1EDC-9D7F-4B49-81F7-49140D80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38650"/>
            <a:ext cx="342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CF6FF-D34C-47AD-A834-F14FB7B5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7244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193 / 193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704713-14C3-4BB9-A85B-91C6B4F4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冻结评测通过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9BAAD0-763C-4C76-B7CF-12ACDAA4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772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7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离线 Proxy 与模拟数据，不等同于真实模型 A/B</a:t>
            </a:r>
          </a:p>
        </p:txBody>
      </p:sp>
    </p:spTree>
    <p:extLst>
      <p:ext uri="{BB962C8B-B14F-4D97-AF65-F5344CB8AC3E}">
        <p14:creationId xmlns:p14="http://schemas.microsoft.com/office/powerpoint/2010/main" val="2066134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63D87F-6B8B-454C-A837-51AB2F9D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01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完整工程闭环已验证，真实 Provider A/B 是下一项独立实验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92C3D-B14C-43E7-A9E9-FBA75029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20ABC-A127-4A31-8985-E1E4FAE0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1E56E-2A7B-4B2D-A475-E4D96C1D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工程证据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7C82A-585D-400D-836B-F9868423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131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2590E-B184-4D33-BD9C-1D88C72E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 passed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48E3AF-C56B-474C-98CC-677EB040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100/100 + 40/40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38436-BEC1-46F4-B94E-3E718D87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PostgreSQL load / recovery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D54822-1D01-4FB1-8A41-BE2F9AA7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6/6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E8B1F-3074-48CE-AFE4-9039F605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38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fault gates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3DA992-EE5C-494C-933E-7E7D7ABB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90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FE365A-1F4A-43EB-8E0C-0B8C37E3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40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受控边界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765DE9-597C-401D-AFE3-4BF07339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76450"/>
            <a:ext cx="30289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公开风格模拟数据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不复制企业内部资产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候选策略默认 inactive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Shadow + 全量回归 + 人审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灰度发布与自动回滚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E16E8-6B5A-4B5E-AD88-DC7CA658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62500"/>
            <a:ext cx="2895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DD9"/>
          </a:solidFill>
          <a:ln xmlns:a="http://schemas.openxmlformats.org/drawingml/2006/main" w="0">
            <a:solidFill>
              <a:srgbClr val="F9ED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943150-75CF-4B86-B03A-768E3820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768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真实 Provider A/B</a:t>
            </a:r>
          </a:p>
          <a:p xmlns:a="http://schemas.openxmlformats.org/drawingml/2006/main">
            <a:pPr algn="ctr">
              <a:def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尚未执行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D8A637-A740-41AC-B092-553D1BEE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390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1A5912-B7FF-4E10-B3E9-F0341FED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0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可直接验收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99ADBA-2BD0-4D4C-B8EF-D58F2FD7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GitHub 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740B14-02C6-4180-AE78-913C298B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 · Docker · PostgreSQL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68F4D0-8DC2-46C4-89EA-C5E68F15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Run 33309988987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85EE14-9810-4DA0-9938-9F78B932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29908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github.com/Isoldelu/</a:t>
            </a:r>
          </a:p>
          <a:p xmlns:a="http://schemas.openxmlformats.org/drawingml/2006/main">
            <a:pPr algn="l">
              <a:def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software-engineering-agent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07C981-8018-41FD-97FE-900EF917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48250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下一步：小预算 Provider A/B</a:t>
            </a:r>
          </a:p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固定 12 条代表性 Query，显式记录成本与失败回退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0D1CB6-DB30-4B44-A445-8417DF4C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结论：这是一个有工具、有证据、有评测、可部署、可回滚的 AI4SE Agent。</a:t>
            </a:r>
          </a:p>
        </p:txBody>
      </p:sp>
    </p:spTree>
    <p:extLst>
      <p:ext uri="{BB962C8B-B14F-4D97-AF65-F5344CB8AC3E}">
        <p14:creationId xmlns:p14="http://schemas.microsoft.com/office/powerpoint/2010/main" val="490882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2026-08-30T12:07:55.7580000Z</dcterms:created>
  <dcterms:modified xsi:type="dcterms:W3CDTF">2026-08-30T12:07:55.7580000Z</dcterms:modified>
</coreProperties>
</file>